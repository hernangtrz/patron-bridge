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7" r:id="rId5"/>
    <p:sldId id="258" r:id="rId6"/>
    <p:sldId id="260" r:id="rId7"/>
    <p:sldId id="268" r:id="rId8"/>
    <p:sldId id="266" r:id="rId9"/>
    <p:sldId id="263" r:id="rId10"/>
    <p:sldId id="27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4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1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5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B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1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1339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PATRÓN</a:t>
            </a:r>
            <a:endParaRPr lang="en-US" sz="1339" dirty="0"/>
          </a:p>
        </p:txBody>
      </p:sp>
      <p:sp>
        <p:nvSpPr>
          <p:cNvPr id="3" name="Text 1"/>
          <p:cNvSpPr/>
          <p:nvPr/>
        </p:nvSpPr>
        <p:spPr>
          <a:xfrm>
            <a:off x="812800" y="1210469"/>
            <a:ext cx="5055076" cy="15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50"/>
              </a:lnSpc>
              <a:buNone/>
            </a:pPr>
            <a:r>
              <a:rPr lang="en-US" sz="1300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Bridge</a:t>
            </a:r>
            <a:endParaRPr lang="en-US" sz="13000" dirty="0"/>
          </a:p>
        </p:txBody>
      </p:sp>
      <p:pic>
        <p:nvPicPr>
          <p:cNvPr id="4" name="Image 0" descr="Puente colgante sobre el agu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876" y="1454864"/>
            <a:ext cx="1778000" cy="107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912983"/>
            <a:ext cx="36626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estructural · GoF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800" y="3268583"/>
            <a:ext cx="366268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conocido como Handle/Body. Catalogado por la Banda de los Cuatro (1994).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73600" y="2953623"/>
            <a:ext cx="6705600" cy="967740"/>
          </a:xfrm>
          <a:prstGeom prst="roundRect">
            <a:avLst>
              <a:gd name="adj" fmla="val 7874"/>
            </a:avLst>
          </a:prstGeom>
          <a:solidFill>
            <a:srgbClr val="0F1420"/>
          </a:solidFill>
          <a:ln/>
        </p:spPr>
        <p:txBody>
          <a:bodyPr wrap="square" lIns="257082" tIns="180882" rIns="72678" bIns="155482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Desacoplar una abstracción de su implementación para que ambas puedan variar de forma independiente.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12800" y="4137501"/>
            <a:ext cx="3420507" cy="1145223"/>
          </a:xfrm>
          <a:prstGeom prst="roundRect">
            <a:avLst>
              <a:gd name="adj" fmla="val 6654"/>
            </a:avLst>
          </a:prstGeom>
          <a:solidFill>
            <a:srgbClr val="0F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6000" y="4264501"/>
            <a:ext cx="31045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4"/>
              </a:lnSpc>
              <a:buNone/>
            </a:pPr>
            <a:r>
              <a:rPr lang="en-US" sz="3364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364" dirty="0"/>
          </a:p>
        </p:txBody>
      </p:sp>
      <p:sp>
        <p:nvSpPr>
          <p:cNvPr id="10" name="Text 7"/>
          <p:cNvSpPr/>
          <p:nvPr/>
        </p:nvSpPr>
        <p:spPr>
          <a:xfrm>
            <a:off x="1016000" y="4691142"/>
            <a:ext cx="3104530" cy="489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1"/>
              </a:lnSpc>
              <a:buNone/>
            </a:pPr>
            <a:r>
              <a:rPr lang="en-US" sz="1308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jerarquías: abstracción e implementación</a:t>
            </a:r>
            <a:endParaRPr lang="en-US" sz="1308" dirty="0"/>
          </a:p>
        </p:txBody>
      </p:sp>
      <p:sp>
        <p:nvSpPr>
          <p:cNvPr id="11" name="Shape 8"/>
          <p:cNvSpPr/>
          <p:nvPr/>
        </p:nvSpPr>
        <p:spPr>
          <a:xfrm>
            <a:off x="4385707" y="4137501"/>
            <a:ext cx="3420586" cy="1145223"/>
          </a:xfrm>
          <a:prstGeom prst="roundRect">
            <a:avLst>
              <a:gd name="adj" fmla="val 6654"/>
            </a:avLst>
          </a:prstGeom>
          <a:solidFill>
            <a:srgbClr val="0F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88907" y="4264501"/>
            <a:ext cx="31046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3FD0C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588907" y="4721701"/>
            <a:ext cx="3104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puente: la referencia que las une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8693" y="4137501"/>
            <a:ext cx="3420507" cy="1145223"/>
          </a:xfrm>
          <a:prstGeom prst="roundRect">
            <a:avLst>
              <a:gd name="adj" fmla="val 6654"/>
            </a:avLst>
          </a:prstGeom>
          <a:solidFill>
            <a:srgbClr val="0F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61893" y="4264501"/>
            <a:ext cx="31045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N+M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161893" y="4721701"/>
            <a:ext cx="310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clases, en lugar de N × 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5548392"/>
            <a:ext cx="13398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152650" y="5476002"/>
            <a:ext cx="1792764" cy="375920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Jhon Mario García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47014" y="5476002"/>
            <a:ext cx="2168366" cy="375920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 Gutiérrez Anillo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16980" y="5476002"/>
            <a:ext cx="2228215" cy="375920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Sebastián Rondón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4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0" y="623824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1A22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24714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¿Qué es el patrón Bridge?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2037080"/>
            <a:ext cx="9483725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patrón estructural que divide una clase grande en dos jerarquías que evolucionan por separado, una de abstracción y otra de implementación, conectadas por composición en lugar de herencia.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00" y="3114675"/>
            <a:ext cx="5207000" cy="1009650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2800" y="3114675"/>
            <a:ext cx="5207000" cy="1009650"/>
          </a:xfrm>
          <a:custGeom>
            <a:avLst/>
            <a:gdLst/>
            <a:ahLst/>
            <a:cxnLst/>
            <a:rect l="l" t="t" r="r" b="b"/>
            <a:pathLst>
              <a:path w="5207000" h="1009650">
                <a:moveTo>
                  <a:pt x="76200" y="1009650"/>
                </a:moveTo>
                <a:lnTo>
                  <a:pt x="76200" y="10096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933450"/>
                </a:lnTo>
                <a:arcTo wR="25400" hR="76200" stAng="108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3267075"/>
            <a:ext cx="489229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6800" y="3526155"/>
            <a:ext cx="489229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control que usa el cliente. No hace el trabajo real: lo delega en su implementación.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114675"/>
            <a:ext cx="5207000" cy="1009650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3114675"/>
            <a:ext cx="5207000" cy="1009650"/>
          </a:xfrm>
          <a:custGeom>
            <a:avLst/>
            <a:gdLst/>
            <a:ahLst/>
            <a:cxnLst/>
            <a:rect l="l" t="t" r="r" b="b"/>
            <a:pathLst>
              <a:path w="5207000" h="1009650">
                <a:moveTo>
                  <a:pt x="76200" y="1009650"/>
                </a:moveTo>
                <a:lnTo>
                  <a:pt x="76200" y="10096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93345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6200" y="3267075"/>
            <a:ext cx="4892294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F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26200" y="3526155"/>
            <a:ext cx="4892294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que ejecuta las operaciones de bajo nivel. Puede tener muchas variantes intercambiables.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327525"/>
            <a:ext cx="9207500" cy="819150"/>
          </a:xfrm>
          <a:prstGeom prst="roundRect">
            <a:avLst>
              <a:gd name="adj" fmla="val 9302"/>
            </a:avLst>
          </a:prstGeom>
          <a:solidFill>
            <a:srgbClr val="F2B441"/>
          </a:solidFill>
          <a:ln/>
        </p:spPr>
        <p:txBody>
          <a:bodyPr wrap="square" lIns="206282" tIns="130082" rIns="0" bIns="1046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Analogía:</a:t>
            </a:r>
            <a:r>
              <a:rPr lang="en-US" sz="15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control remoto (abstracción) funciona con cualquier TV o radio (implementación). Cambias uno sin tocar el otro.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s-CO" sz="18000" dirty="0">
                <a:solidFill>
                  <a:srgbClr val="1D264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Propósito y motivación</a:t>
            </a:r>
          </a:p>
        </p:txBody>
      </p:sp>
      <p:sp>
        <p:nvSpPr>
          <p:cNvPr id="4" name="Propósito card"/>
          <p:cNvSpPr/>
          <p:nvPr/>
        </p:nvSpPr>
        <p:spPr>
          <a:xfrm>
            <a:off x="812800" y="1500000"/>
            <a:ext cx="10883392" cy="1020000"/>
          </a:xfrm>
          <a:prstGeom prst="roundRect">
            <a:avLst>
              <a:gd name="adj" fmla="val 8658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5"/>
          <p:cNvSpPr/>
          <p:nvPr/>
        </p:nvSpPr>
        <p:spPr>
          <a:xfrm>
            <a:off x="812800" y="1500000"/>
            <a:ext cx="10883392" cy="1020000"/>
          </a:xfrm>
          <a:custGeom>
            <a:avLst/>
            <a:gdLst/>
            <a:ahLst/>
            <a:cxnLst/>
            <a:rect l="l" t="t" r="r" b="b"/>
            <a:pathLst>
              <a:path w="10883392" h="1020000">
                <a:moveTo>
                  <a:pt x="76200" y="1020000"/>
                </a:moveTo>
                <a:lnTo>
                  <a:pt x="76200" y="102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94380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Propósito label"/>
          <p:cNvSpPr/>
          <p:nvPr/>
        </p:nvSpPr>
        <p:spPr>
          <a:xfrm>
            <a:off x="1042800" y="1620000"/>
            <a:ext cx="10423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 dirty="0">
                <a:solidFill>
                  <a:srgbClr val="3F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</a:p>
        </p:txBody>
      </p:sp>
      <p:sp>
        <p:nvSpPr>
          <p:cNvPr id="7" name="Propósito text"/>
          <p:cNvSpPr/>
          <p:nvPr/>
        </p:nvSpPr>
        <p:spPr>
          <a:xfrm>
            <a:off x="1042800" y="1900000"/>
            <a:ext cx="10423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divide una clase grande, o un grupo de clases muy relacionadas, en dos jerarquías separadas: la abstracción y la implementación. Cada una se desarrolla sin depender de la otra.</a:t>
            </a:r>
          </a:p>
        </p:txBody>
      </p:sp>
      <p:sp>
        <p:nvSpPr>
          <p:cNvPr id="8" name="Problema label"/>
          <p:cNvSpPr/>
          <p:nvPr/>
        </p:nvSpPr>
        <p:spPr>
          <a:xfrm>
            <a:off x="812800" y="2780000"/>
            <a:ext cx="49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O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</a:p>
        </p:txBody>
      </p:sp>
      <p:sp>
        <p:nvSpPr>
          <p:cNvPr id="9" name="Problema text"/>
          <p:cNvSpPr/>
          <p:nvPr/>
        </p:nvSpPr>
        <p:spPr>
          <a:xfrm>
            <a:off x="812800" y="3100000"/>
            <a:ext cx="495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spcAft>
                <a:spcPts val="700"/>
              </a:spcAft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una clase Forma con dos subclases, Círculo y Cuadrado. Quieres sumar colores y creas las subclases Rojo y Azul.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la herencia solo permite una dimensión, terminas con una clase por cada combinación: CírculoAzul, CuadradoRojo… Cada forma o color nuevo multiplica las clases.</a:t>
            </a:r>
          </a:p>
        </p:txBody>
      </p:sp>
      <p:sp>
        <p:nvSpPr>
          <p:cNvPr id="10" name="Crecimiento label"/>
          <p:cNvSpPr/>
          <p:nvPr/>
        </p:nvSpPr>
        <p:spPr>
          <a:xfrm>
            <a:off x="6273800" y="2780000"/>
            <a:ext cx="5422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s-CO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NECESARIAS CON HERENCIA</a:t>
            </a:r>
          </a:p>
        </p:txBody>
      </p:sp>
      <p:sp>
        <p:nvSpPr>
          <p:cNvPr id="11" name="Num 0"/>
          <p:cNvSpPr/>
          <p:nvPr/>
        </p:nvSpPr>
        <p:spPr>
          <a:xfrm>
            <a:off x="6273800" y="3180000"/>
            <a:ext cx="1500000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s-CO" sz="7000" dirty="0">
                <a:solidFill>
                  <a:srgbClr val="D9D5C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</a:p>
        </p:txBody>
      </p:sp>
      <p:sp>
        <p:nvSpPr>
          <p:cNvPr id="12" name="Num label 0"/>
          <p:cNvSpPr/>
          <p:nvPr/>
        </p:nvSpPr>
        <p:spPr>
          <a:xfrm>
            <a:off x="6273800" y="417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formas × 2 colores</a:t>
            </a:r>
          </a:p>
        </p:txBody>
      </p:sp>
      <p:sp>
        <p:nvSpPr>
          <p:cNvPr id="13" name="Arrow 0"/>
          <p:cNvSpPr/>
          <p:nvPr/>
        </p:nvSpPr>
        <p:spPr>
          <a:xfrm>
            <a:off x="7773800" y="3330000"/>
            <a:ext cx="461196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</a:p>
        </p:txBody>
      </p:sp>
      <p:sp>
        <p:nvSpPr>
          <p:cNvPr id="14" name="Num 1"/>
          <p:cNvSpPr/>
          <p:nvPr/>
        </p:nvSpPr>
        <p:spPr>
          <a:xfrm>
            <a:off x="8234996" y="3180000"/>
            <a:ext cx="1500000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s-CO" sz="70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</a:t>
            </a:r>
          </a:p>
        </p:txBody>
      </p:sp>
      <p:sp>
        <p:nvSpPr>
          <p:cNvPr id="15" name="Num label 1"/>
          <p:cNvSpPr/>
          <p:nvPr/>
        </p:nvSpPr>
        <p:spPr>
          <a:xfrm>
            <a:off x="8234996" y="417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 Triángulo: +2 clases</a:t>
            </a:r>
          </a:p>
        </p:txBody>
      </p:sp>
      <p:sp>
        <p:nvSpPr>
          <p:cNvPr id="16" name="Arrow 1"/>
          <p:cNvSpPr/>
          <p:nvPr/>
        </p:nvSpPr>
        <p:spPr>
          <a:xfrm>
            <a:off x="9734996" y="3330000"/>
            <a:ext cx="461196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</a:p>
        </p:txBody>
      </p:sp>
      <p:sp>
        <p:nvSpPr>
          <p:cNvPr id="17" name="Num 2"/>
          <p:cNvSpPr/>
          <p:nvPr/>
        </p:nvSpPr>
        <p:spPr>
          <a:xfrm>
            <a:off x="10196192" y="3180000"/>
            <a:ext cx="1500000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000"/>
              </a:lnSpc>
              <a:buNone/>
            </a:pPr>
            <a:r>
              <a:rPr lang="es-CO" sz="7000" dirty="0">
                <a:solidFill>
                  <a:srgbClr val="FF8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</a:t>
            </a:r>
          </a:p>
        </p:txBody>
      </p:sp>
      <p:sp>
        <p:nvSpPr>
          <p:cNvPr id="18" name="Num label 2"/>
          <p:cNvSpPr/>
          <p:nvPr/>
        </p:nvSpPr>
        <p:spPr>
          <a:xfrm>
            <a:off x="10196192" y="4170000"/>
            <a:ext cx="1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 un color: +3 clases</a:t>
            </a:r>
          </a:p>
        </p:txBody>
      </p:sp>
      <p:sp>
        <p:nvSpPr>
          <p:cNvPr id="19" name="Causa card"/>
          <p:cNvSpPr/>
          <p:nvPr/>
        </p:nvSpPr>
        <p:spPr>
          <a:xfrm>
            <a:off x="812800" y="5200000"/>
            <a:ext cx="10883392" cy="800000"/>
          </a:xfrm>
          <a:prstGeom prst="roundRect">
            <a:avLst>
              <a:gd name="adj" fmla="val 8658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20"/>
          <p:cNvSpPr/>
          <p:nvPr/>
        </p:nvSpPr>
        <p:spPr>
          <a:xfrm>
            <a:off x="812800" y="5200000"/>
            <a:ext cx="10883392" cy="800000"/>
          </a:xfrm>
          <a:custGeom>
            <a:avLst/>
            <a:gdLst/>
            <a:ahLst/>
            <a:cxnLst/>
            <a:rect l="l" t="t" r="r" b="b"/>
            <a:pathLst>
              <a:path w="10883392" h="800000">
                <a:moveTo>
                  <a:pt x="76200" y="800000"/>
                </a:moveTo>
                <a:lnTo>
                  <a:pt x="76200" y="80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723800"/>
                </a:lnTo>
                <a:arcTo wR="25400" hR="76200" stAng="108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Causa text"/>
          <p:cNvSpPr/>
          <p:nvPr/>
        </p:nvSpPr>
        <p:spPr>
          <a:xfrm>
            <a:off x="1042800" y="5200000"/>
            <a:ext cx="10423392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causa: </a:t>
            </a:r>
            <a:r>
              <a:rPr lang="es-CO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crece en dos dimensiones independientes, forma y color, usando solo herencia. Bridge propone pasar de la herencia a la composición.</a:t>
            </a:r>
          </a:p>
        </p:txBody>
      </p:sp>
      <p:sp>
        <p:nvSpPr>
          <p:cNvPr id="22" name="Footer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</a:p>
        </p:txBody>
      </p:sp>
      <p:sp>
        <p:nvSpPr>
          <p:cNvPr id="23" name="Page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s-CO" sz="18000" dirty="0">
                <a:solidFill>
                  <a:srgbClr val="1D264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 solución: composición</a:t>
            </a:r>
          </a:p>
        </p:txBody>
      </p:sp>
      <p:sp>
        <p:nvSpPr>
          <p:cNvPr id="4" name="Step num 0"/>
          <p:cNvSpPr/>
          <p:nvPr/>
        </p:nvSpPr>
        <p:spPr>
          <a:xfrm>
            <a:off x="812800" y="1560000"/>
            <a:ext cx="5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</a:p>
        </p:txBody>
      </p:sp>
      <p:sp>
        <p:nvSpPr>
          <p:cNvPr id="5" name="Step text 0"/>
          <p:cNvSpPr/>
          <p:nvPr/>
        </p:nvSpPr>
        <p:spPr>
          <a:xfrm>
            <a:off x="1412800" y="1600000"/>
            <a:ext cx="435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Sacamos una dimensión a su propia jerarquía: el color pasa a una clase Color, con Rojo y Azul.</a:t>
            </a:r>
          </a:p>
        </p:txBody>
      </p:sp>
      <p:sp>
        <p:nvSpPr>
          <p:cNvPr id="6" name="Step num 1"/>
          <p:cNvSpPr/>
          <p:nvPr/>
        </p:nvSpPr>
        <p:spPr>
          <a:xfrm>
            <a:off x="812800" y="2580000"/>
            <a:ext cx="5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</a:p>
        </p:txBody>
      </p:sp>
      <p:sp>
        <p:nvSpPr>
          <p:cNvPr id="7" name="Step text 1"/>
          <p:cNvSpPr/>
          <p:nvPr/>
        </p:nvSpPr>
        <p:spPr>
          <a:xfrm>
            <a:off x="1412800" y="2620000"/>
            <a:ext cx="435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guarda una referencia a un objeto Color y le delega todo el trabajo relacionado con el color.</a:t>
            </a:r>
          </a:p>
        </p:txBody>
      </p:sp>
      <p:sp>
        <p:nvSpPr>
          <p:cNvPr id="8" name="Step num 2"/>
          <p:cNvSpPr/>
          <p:nvPr/>
        </p:nvSpPr>
        <p:spPr>
          <a:xfrm>
            <a:off x="812800" y="3600000"/>
            <a:ext cx="5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</a:p>
        </p:txBody>
      </p:sp>
      <p:sp>
        <p:nvSpPr>
          <p:cNvPr id="9" name="Step text 2"/>
          <p:cNvSpPr/>
          <p:nvPr/>
        </p:nvSpPr>
        <p:spPr>
          <a:xfrm>
            <a:off x="1412800" y="3640000"/>
            <a:ext cx="435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referencia es el puente entre las dos jerarquías.</a:t>
            </a:r>
          </a:p>
        </p:txBody>
      </p:sp>
      <p:sp>
        <p:nvSpPr>
          <p:cNvPr id="10" name="Step num 3"/>
          <p:cNvSpPr/>
          <p:nvPr/>
        </p:nvSpPr>
        <p:spPr>
          <a:xfrm>
            <a:off x="812800" y="4620000"/>
            <a:ext cx="5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</a:p>
        </p:txBody>
      </p:sp>
      <p:sp>
        <p:nvSpPr>
          <p:cNvPr id="11" name="Step text 3"/>
          <p:cNvSpPr/>
          <p:nvPr/>
        </p:nvSpPr>
        <p:spPr>
          <a:xfrm>
            <a:off x="1412800" y="4660000"/>
            <a:ext cx="435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35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color nuevo no toca las formas, y una forma nueva no toca los colores.</a:t>
            </a:r>
          </a:p>
        </p:txBody>
      </p:sp>
      <p:sp>
        <p:nvSpPr>
          <p:cNvPr id="101" name="Clase Forma"/>
          <p:cNvSpPr/>
          <p:nvPr/>
        </p:nvSpPr>
        <p:spPr>
          <a:xfrm>
            <a:off x="6273800" y="1560000"/>
            <a:ext cx="2200000" cy="112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2" name="Clase Forma cabecera"/>
          <p:cNvSpPr/>
          <p:nvPr/>
        </p:nvSpPr>
        <p:spPr>
          <a:xfrm>
            <a:off x="6273800" y="1560000"/>
            <a:ext cx="2200000" cy="520000"/>
          </a:xfrm>
          <a:prstGeom prst="rect">
            <a:avLst/>
          </a:prstGeom>
          <a:solidFill>
            <a:srgbClr val="4A3B17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3" name="Clase Forma nombre"/>
          <p:cNvSpPr txBox="1"/>
          <p:nvPr/>
        </p:nvSpPr>
        <p:spPr>
          <a:xfrm>
            <a:off x="6273800" y="1560000"/>
            <a:ext cx="2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«abstracta»</a:t>
            </a:r>
          </a:p>
          <a:p>
            <a:pPr marL="0" indent="0" algn="ctr">
              <a:lnSpc>
                <a:spcPts val="2250"/>
              </a:lnSpc>
              <a:buNone/>
            </a:pPr>
            <a:r>
              <a:rPr lang="es-CO" sz="1800" i="1" dirty="0">
                <a:solidFill>
                  <a:srgbClr val="F2B441"/>
                </a:solidFill>
                <a:latin typeface="Georgia" pitchFamily="18" charset="0"/>
                <a:ea typeface="Georgia" charset="-122"/>
                <a:cs typeface="Georgia" charset="-120"/>
              </a:rPr>
              <a:t>Forma</a:t>
            </a:r>
          </a:p>
        </p:txBody>
      </p:sp>
      <p:cxnSp>
        <p:nvCxnSpPr>
          <p:cNvPr id="104" name="Clase Forma separador 1"/>
          <p:cNvCxnSpPr/>
          <p:nvPr/>
        </p:nvCxnSpPr>
        <p:spPr>
          <a:xfrm>
            <a:off x="6273800" y="2080000"/>
            <a:ext cx="2200000" cy="0"/>
          </a:xfrm>
          <a:prstGeom prst="line">
            <a:avLst/>
          </a:prstGeom>
          <a:ln w="12700">
            <a:solidFill>
              <a:srgbClr val="F2B441"/>
            </a:solidFill>
          </a:ln>
        </p:spPr>
      </p:cxnSp>
      <p:sp>
        <p:nvSpPr>
          <p:cNvPr id="105" name="Clase Forma miembros 1"/>
          <p:cNvSpPr txBox="1"/>
          <p:nvPr/>
        </p:nvSpPr>
        <p:spPr>
          <a:xfrm>
            <a:off x="6273800" y="2080000"/>
            <a:ext cx="220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- color: Color</a:t>
            </a:r>
          </a:p>
        </p:txBody>
      </p:sp>
      <p:cxnSp>
        <p:nvCxnSpPr>
          <p:cNvPr id="106" name="Clase Forma separador 2"/>
          <p:cNvCxnSpPr/>
          <p:nvPr/>
        </p:nvCxnSpPr>
        <p:spPr>
          <a:xfrm>
            <a:off x="6273800" y="2380000"/>
            <a:ext cx="2200000" cy="0"/>
          </a:xfrm>
          <a:prstGeom prst="line">
            <a:avLst/>
          </a:prstGeom>
          <a:ln w="12700">
            <a:solidFill>
              <a:srgbClr val="F2B441"/>
            </a:solidFill>
          </a:ln>
        </p:spPr>
      </p:cxnSp>
      <p:sp>
        <p:nvSpPr>
          <p:cNvPr id="107" name="Clase Forma miembros 2"/>
          <p:cNvSpPr txBox="1"/>
          <p:nvPr/>
        </p:nvSpPr>
        <p:spPr>
          <a:xfrm>
            <a:off x="6273800" y="2380000"/>
            <a:ext cx="220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i="1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dibujar()</a:t>
            </a:r>
          </a:p>
        </p:txBody>
      </p:sp>
      <p:sp>
        <p:nvSpPr>
          <p:cNvPr id="108" name="Clase Color"/>
          <p:cNvSpPr/>
          <p:nvPr/>
        </p:nvSpPr>
        <p:spPr>
          <a:xfrm>
            <a:off x="9496192" y="1560000"/>
            <a:ext cx="2200000" cy="112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9" name="Clase Color cabecera"/>
          <p:cNvSpPr/>
          <p:nvPr/>
        </p:nvSpPr>
        <p:spPr>
          <a:xfrm>
            <a:off x="9496192" y="1560000"/>
            <a:ext cx="2200000" cy="520000"/>
          </a:xfrm>
          <a:prstGeom prst="rect">
            <a:avLst/>
          </a:prstGeom>
          <a:solidFill>
            <a:srgbClr val="12494A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0" name="Clase Color nombre"/>
          <p:cNvSpPr txBox="1"/>
          <p:nvPr/>
        </p:nvSpPr>
        <p:spPr>
          <a:xfrm>
            <a:off x="9496192" y="1560000"/>
            <a:ext cx="2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«interfaz»</a:t>
            </a:r>
          </a:p>
          <a:p>
            <a:pPr marL="0" indent="0" algn="ctr">
              <a:lnSpc>
                <a:spcPts val="2250"/>
              </a:lnSpc>
              <a:buNone/>
            </a:pPr>
            <a:r>
              <a:rPr lang="es-CO" sz="1800" dirty="0">
                <a:solidFill>
                  <a:srgbClr val="3FD0C0"/>
                </a:solidFill>
                <a:latin typeface="Georgia" pitchFamily="18" charset="0"/>
                <a:ea typeface="Georgia" charset="-122"/>
                <a:cs typeface="Georgia" charset="-120"/>
              </a:rPr>
              <a:t>Color</a:t>
            </a:r>
          </a:p>
        </p:txBody>
      </p:sp>
      <p:cxnSp>
        <p:nvCxnSpPr>
          <p:cNvPr id="111" name="Clase Color separador 1"/>
          <p:cNvCxnSpPr/>
          <p:nvPr/>
        </p:nvCxnSpPr>
        <p:spPr>
          <a:xfrm>
            <a:off x="9496192" y="2080000"/>
            <a:ext cx="2200000" cy="0"/>
          </a:xfrm>
          <a:prstGeom prst="line">
            <a:avLst/>
          </a:prstGeom>
          <a:ln w="12700">
            <a:solidFill>
              <a:srgbClr val="3FD0C0"/>
            </a:solidFill>
          </a:ln>
        </p:spPr>
      </p:cxnSp>
      <p:sp>
        <p:nvSpPr>
          <p:cNvPr id="112" name="Clase Color miembros 1"/>
          <p:cNvSpPr txBox="1"/>
          <p:nvPr/>
        </p:nvSpPr>
        <p:spPr>
          <a:xfrm>
            <a:off x="9496192" y="2080000"/>
            <a:ext cx="2200000" cy="6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i="1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aplicar()</a:t>
            </a:r>
          </a:p>
        </p:txBody>
      </p:sp>
      <p:cxnSp>
        <p:nvCxnSpPr>
          <p:cNvPr id="113" name="Asociación puente"/>
          <p:cNvCxnSpPr/>
          <p:nvPr/>
        </p:nvCxnSpPr>
        <p:spPr>
          <a:xfrm>
            <a:off x="8673800" y="2230000"/>
            <a:ext cx="822392" cy="0"/>
          </a:xfrm>
          <a:prstGeom prst="line">
            <a:avLst/>
          </a:prstGeom>
          <a:ln w="22225">
            <a:solidFill>
              <a:srgbClr val="3FD0C0"/>
            </a:solidFill>
            <a:tailEnd type="arrow" w="med" len="med"/>
          </a:ln>
        </p:spPr>
      </p:cxnSp>
      <p:sp>
        <p:nvSpPr>
          <p:cNvPr id="114" name="Rombo agregación"/>
          <p:cNvSpPr/>
          <p:nvPr/>
        </p:nvSpPr>
        <p:spPr>
          <a:xfrm>
            <a:off x="8473800" y="2160000"/>
            <a:ext cx="200000" cy="140000"/>
          </a:xfrm>
          <a:prstGeom prst="diamond">
            <a:avLst/>
          </a:prstGeom>
          <a:solidFill>
            <a:srgbClr val="26324F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5" name="Puente label"/>
          <p:cNvSpPr txBox="1"/>
          <p:nvPr/>
        </p:nvSpPr>
        <p:spPr>
          <a:xfrm>
            <a:off x="8473800" y="1910000"/>
            <a:ext cx="1022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s-CO" sz="1200" b="1" dirty="0">
                <a:solidFill>
                  <a:srgbClr val="3FD0C0"/>
                </a:solidFill>
                <a:latin typeface="Arial" pitchFamily="34" charset="0"/>
                <a:ea typeface="Arial" charset="-122"/>
                <a:cs typeface="Arial" charset="-120"/>
              </a:rPr>
              <a:t>puente</a:t>
            </a:r>
          </a:p>
        </p:txBody>
      </p:sp>
      <p:sp>
        <p:nvSpPr>
          <p:cNvPr id="116" name="Referencia label"/>
          <p:cNvSpPr txBox="1"/>
          <p:nvPr/>
        </p:nvSpPr>
        <p:spPr>
          <a:xfrm>
            <a:off x="8473800" y="2330000"/>
            <a:ext cx="1022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charset="-122"/>
                <a:cs typeface="Arial" charset="-120"/>
              </a:rPr>
              <a:t>referencia</a:t>
            </a:r>
          </a:p>
        </p:txBody>
      </p:sp>
      <p:sp>
        <p:nvSpPr>
          <p:cNvPr id="117" name="Triángulo herencia"/>
          <p:cNvSpPr/>
          <p:nvPr/>
        </p:nvSpPr>
        <p:spPr>
          <a:xfrm>
            <a:off x="7273800" y="2680000"/>
            <a:ext cx="200000" cy="150000"/>
          </a:xfrm>
          <a:prstGeom prst="triangle">
            <a:avLst/>
          </a:prstGeom>
          <a:solidFill>
            <a:srgbClr val="26324F"/>
          </a:solidFill>
          <a:ln w="19050">
            <a:solidFill>
              <a:srgbClr val="AAB2C5"/>
            </a:solidFill>
          </a:ln>
        </p:spPr>
        <p:txBody>
          <a:bodyPr/>
          <a:lstStyle/>
          <a:p>
            <a:endParaRPr lang="es-CO"/>
          </a:p>
        </p:txBody>
      </p:sp>
      <p:cxnSp>
        <p:nvCxnSpPr>
          <p:cNvPr id="118" name="Tallo"/>
          <p:cNvCxnSpPr/>
          <p:nvPr/>
        </p:nvCxnSpPr>
        <p:spPr>
          <a:xfrm>
            <a:off x="7373800" y="2830000"/>
            <a:ext cx="0" cy="130000"/>
          </a:xfrm>
          <a:prstGeom prst="line">
            <a:avLst/>
          </a:prstGeom>
          <a:ln w="19050">
            <a:solidFill>
              <a:srgbClr val="AAB2C5"/>
            </a:solidFill>
          </a:ln>
        </p:spPr>
      </p:cxnSp>
      <p:cxnSp>
        <p:nvCxnSpPr>
          <p:cNvPr id="119" name="Bus"/>
          <p:cNvCxnSpPr/>
          <p:nvPr/>
        </p:nvCxnSpPr>
        <p:spPr>
          <a:xfrm>
            <a:off x="6798800" y="2960000"/>
            <a:ext cx="1150000" cy="0"/>
          </a:xfrm>
          <a:prstGeom prst="line">
            <a:avLst/>
          </a:prstGeom>
          <a:ln w="19050">
            <a:solidFill>
              <a:srgbClr val="AAB2C5"/>
            </a:solidFill>
          </a:ln>
        </p:spPr>
      </p:cxnSp>
      <p:cxnSp>
        <p:nvCxnSpPr>
          <p:cNvPr id="120" name="Bajada"/>
          <p:cNvCxnSpPr/>
          <p:nvPr/>
        </p:nvCxnSpPr>
        <p:spPr>
          <a:xfrm>
            <a:off x="6798800" y="2960000"/>
            <a:ext cx="0" cy="140000"/>
          </a:xfrm>
          <a:prstGeom prst="line">
            <a:avLst/>
          </a:prstGeom>
          <a:ln w="19050">
            <a:solidFill>
              <a:srgbClr val="AAB2C5"/>
            </a:solidFill>
          </a:ln>
        </p:spPr>
      </p:cxnSp>
      <p:cxnSp>
        <p:nvCxnSpPr>
          <p:cNvPr id="121" name="Bajada"/>
          <p:cNvCxnSpPr/>
          <p:nvPr/>
        </p:nvCxnSpPr>
        <p:spPr>
          <a:xfrm>
            <a:off x="7948800" y="2960000"/>
            <a:ext cx="0" cy="140000"/>
          </a:xfrm>
          <a:prstGeom prst="line">
            <a:avLst/>
          </a:prstGeom>
          <a:ln w="19050">
            <a:solidFill>
              <a:srgbClr val="AAB2C5"/>
            </a:solidFill>
          </a:ln>
        </p:spPr>
      </p:cxnSp>
      <p:sp>
        <p:nvSpPr>
          <p:cNvPr id="122" name="Triángulo herencia"/>
          <p:cNvSpPr/>
          <p:nvPr/>
        </p:nvSpPr>
        <p:spPr>
          <a:xfrm>
            <a:off x="10496192" y="2680000"/>
            <a:ext cx="200000" cy="150000"/>
          </a:xfrm>
          <a:prstGeom prst="triangle">
            <a:avLst/>
          </a:prstGeom>
          <a:solidFill>
            <a:srgbClr val="26324F"/>
          </a:solidFill>
          <a:ln w="19050">
            <a:solidFill>
              <a:srgbClr val="AAB2C5"/>
            </a:solidFill>
          </a:ln>
        </p:spPr>
        <p:txBody>
          <a:bodyPr/>
          <a:lstStyle/>
          <a:p>
            <a:endParaRPr lang="es-CO"/>
          </a:p>
        </p:txBody>
      </p:sp>
      <p:cxnSp>
        <p:nvCxnSpPr>
          <p:cNvPr id="123" name="Tallo"/>
          <p:cNvCxnSpPr/>
          <p:nvPr/>
        </p:nvCxnSpPr>
        <p:spPr>
          <a:xfrm>
            <a:off x="10596192" y="2830000"/>
            <a:ext cx="0" cy="130000"/>
          </a:xfrm>
          <a:prstGeom prst="line">
            <a:avLst/>
          </a:prstGeom>
          <a:ln w="19050">
            <a:solidFill>
              <a:srgbClr val="AAB2C5"/>
            </a:solidFill>
            <a:prstDash val="dash"/>
          </a:ln>
        </p:spPr>
      </p:cxnSp>
      <p:cxnSp>
        <p:nvCxnSpPr>
          <p:cNvPr id="124" name="Bus"/>
          <p:cNvCxnSpPr/>
          <p:nvPr/>
        </p:nvCxnSpPr>
        <p:spPr>
          <a:xfrm>
            <a:off x="10021192" y="2960000"/>
            <a:ext cx="1150000" cy="0"/>
          </a:xfrm>
          <a:prstGeom prst="line">
            <a:avLst/>
          </a:prstGeom>
          <a:ln w="19050">
            <a:solidFill>
              <a:srgbClr val="AAB2C5"/>
            </a:solidFill>
            <a:prstDash val="dash"/>
          </a:ln>
        </p:spPr>
      </p:cxnSp>
      <p:cxnSp>
        <p:nvCxnSpPr>
          <p:cNvPr id="125" name="Bajada"/>
          <p:cNvCxnSpPr/>
          <p:nvPr/>
        </p:nvCxnSpPr>
        <p:spPr>
          <a:xfrm>
            <a:off x="10021192" y="2960000"/>
            <a:ext cx="0" cy="140000"/>
          </a:xfrm>
          <a:prstGeom prst="line">
            <a:avLst/>
          </a:prstGeom>
          <a:ln w="19050">
            <a:solidFill>
              <a:srgbClr val="AAB2C5"/>
            </a:solidFill>
            <a:prstDash val="dash"/>
          </a:ln>
        </p:spPr>
      </p:cxnSp>
      <p:cxnSp>
        <p:nvCxnSpPr>
          <p:cNvPr id="126" name="Bajada"/>
          <p:cNvCxnSpPr/>
          <p:nvPr/>
        </p:nvCxnSpPr>
        <p:spPr>
          <a:xfrm>
            <a:off x="11171192" y="2960000"/>
            <a:ext cx="0" cy="140000"/>
          </a:xfrm>
          <a:prstGeom prst="line">
            <a:avLst/>
          </a:prstGeom>
          <a:ln w="19050">
            <a:solidFill>
              <a:srgbClr val="AAB2C5"/>
            </a:solidFill>
            <a:prstDash val="dash"/>
          </a:ln>
        </p:spPr>
      </p:cxnSp>
      <p:sp>
        <p:nvSpPr>
          <p:cNvPr id="127" name="Clase Círculo"/>
          <p:cNvSpPr/>
          <p:nvPr/>
        </p:nvSpPr>
        <p:spPr>
          <a:xfrm>
            <a:off x="6273800" y="3100000"/>
            <a:ext cx="1050000" cy="66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8" name="Clase Círculo cabecera"/>
          <p:cNvSpPr/>
          <p:nvPr/>
        </p:nvSpPr>
        <p:spPr>
          <a:xfrm>
            <a:off x="6273800" y="3100000"/>
            <a:ext cx="1050000" cy="360000"/>
          </a:xfrm>
          <a:prstGeom prst="rect">
            <a:avLst/>
          </a:prstGeom>
          <a:solidFill>
            <a:srgbClr val="4A3B17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9" name="Clase Círculo nombre"/>
          <p:cNvSpPr txBox="1"/>
          <p:nvPr/>
        </p:nvSpPr>
        <p:spPr>
          <a:xfrm>
            <a:off x="6273800" y="3100000"/>
            <a:ext cx="105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s-CO" sz="1400" dirty="0">
                <a:solidFill>
                  <a:srgbClr val="F2B441"/>
                </a:solidFill>
                <a:latin typeface="Georgia" pitchFamily="18" charset="0"/>
                <a:ea typeface="Georgia" charset="-122"/>
                <a:cs typeface="Georgia" charset="-120"/>
              </a:rPr>
              <a:t>Círculo</a:t>
            </a:r>
          </a:p>
        </p:txBody>
      </p:sp>
      <p:cxnSp>
        <p:nvCxnSpPr>
          <p:cNvPr id="130" name="Clase Círculo separador 1"/>
          <p:cNvCxnSpPr/>
          <p:nvPr/>
        </p:nvCxnSpPr>
        <p:spPr>
          <a:xfrm>
            <a:off x="6273800" y="3460000"/>
            <a:ext cx="1050000" cy="0"/>
          </a:xfrm>
          <a:prstGeom prst="line">
            <a:avLst/>
          </a:prstGeom>
          <a:ln w="12700">
            <a:solidFill>
              <a:srgbClr val="F2B441"/>
            </a:solidFill>
          </a:ln>
        </p:spPr>
      </p:cxnSp>
      <p:sp>
        <p:nvSpPr>
          <p:cNvPr id="131" name="Clase Círculo miembros 1"/>
          <p:cNvSpPr txBox="1"/>
          <p:nvPr/>
        </p:nvSpPr>
        <p:spPr>
          <a:xfrm>
            <a:off x="6273800" y="3460000"/>
            <a:ext cx="105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dibujar()</a:t>
            </a:r>
          </a:p>
        </p:txBody>
      </p:sp>
      <p:sp>
        <p:nvSpPr>
          <p:cNvPr id="132" name="Clase Cuadrado"/>
          <p:cNvSpPr/>
          <p:nvPr/>
        </p:nvSpPr>
        <p:spPr>
          <a:xfrm>
            <a:off x="7423800" y="3100000"/>
            <a:ext cx="1050000" cy="66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3" name="Clase Cuadrado cabecera"/>
          <p:cNvSpPr/>
          <p:nvPr/>
        </p:nvSpPr>
        <p:spPr>
          <a:xfrm>
            <a:off x="7423800" y="3100000"/>
            <a:ext cx="1050000" cy="360000"/>
          </a:xfrm>
          <a:prstGeom prst="rect">
            <a:avLst/>
          </a:prstGeom>
          <a:solidFill>
            <a:srgbClr val="4A3B17"/>
          </a:solidFill>
          <a:ln w="19050">
            <a:solidFill>
              <a:srgbClr val="F2B441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4" name="Clase Cuadrado nombre"/>
          <p:cNvSpPr txBox="1"/>
          <p:nvPr/>
        </p:nvSpPr>
        <p:spPr>
          <a:xfrm>
            <a:off x="7423800" y="3100000"/>
            <a:ext cx="105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s-CO" sz="1400" dirty="0">
                <a:solidFill>
                  <a:srgbClr val="F2B441"/>
                </a:solidFill>
                <a:latin typeface="Georgia" pitchFamily="18" charset="0"/>
                <a:ea typeface="Georgia" charset="-122"/>
                <a:cs typeface="Georgia" charset="-120"/>
              </a:rPr>
              <a:t>Cuadrado</a:t>
            </a:r>
          </a:p>
        </p:txBody>
      </p:sp>
      <p:cxnSp>
        <p:nvCxnSpPr>
          <p:cNvPr id="135" name="Clase Cuadrado separador 1"/>
          <p:cNvCxnSpPr/>
          <p:nvPr/>
        </p:nvCxnSpPr>
        <p:spPr>
          <a:xfrm>
            <a:off x="7423800" y="3460000"/>
            <a:ext cx="1050000" cy="0"/>
          </a:xfrm>
          <a:prstGeom prst="line">
            <a:avLst/>
          </a:prstGeom>
          <a:ln w="12700">
            <a:solidFill>
              <a:srgbClr val="F2B441"/>
            </a:solidFill>
          </a:ln>
        </p:spPr>
      </p:cxnSp>
      <p:sp>
        <p:nvSpPr>
          <p:cNvPr id="136" name="Clase Cuadrado miembros 1"/>
          <p:cNvSpPr txBox="1"/>
          <p:nvPr/>
        </p:nvSpPr>
        <p:spPr>
          <a:xfrm>
            <a:off x="7423800" y="3460000"/>
            <a:ext cx="105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dibujar()</a:t>
            </a:r>
          </a:p>
        </p:txBody>
      </p:sp>
      <p:sp>
        <p:nvSpPr>
          <p:cNvPr id="137" name="Clase Rojo"/>
          <p:cNvSpPr/>
          <p:nvPr/>
        </p:nvSpPr>
        <p:spPr>
          <a:xfrm>
            <a:off x="9496192" y="3100000"/>
            <a:ext cx="1050000" cy="66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8" name="Clase Rojo cabecera"/>
          <p:cNvSpPr/>
          <p:nvPr/>
        </p:nvSpPr>
        <p:spPr>
          <a:xfrm>
            <a:off x="9496192" y="3100000"/>
            <a:ext cx="1050000" cy="360000"/>
          </a:xfrm>
          <a:prstGeom prst="rect">
            <a:avLst/>
          </a:prstGeom>
          <a:solidFill>
            <a:srgbClr val="12494A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9" name="Clase Rojo nombre"/>
          <p:cNvSpPr txBox="1"/>
          <p:nvPr/>
        </p:nvSpPr>
        <p:spPr>
          <a:xfrm>
            <a:off x="9496192" y="3100000"/>
            <a:ext cx="105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s-CO" sz="1400" dirty="0">
                <a:solidFill>
                  <a:srgbClr val="3FD0C0"/>
                </a:solidFill>
                <a:latin typeface="Georgia" pitchFamily="18" charset="0"/>
                <a:ea typeface="Georgia" charset="-122"/>
                <a:cs typeface="Georgia" charset="-120"/>
              </a:rPr>
              <a:t>Rojo</a:t>
            </a:r>
          </a:p>
        </p:txBody>
      </p:sp>
      <p:cxnSp>
        <p:nvCxnSpPr>
          <p:cNvPr id="140" name="Clase Rojo separador 1"/>
          <p:cNvCxnSpPr/>
          <p:nvPr/>
        </p:nvCxnSpPr>
        <p:spPr>
          <a:xfrm>
            <a:off x="9496192" y="3460000"/>
            <a:ext cx="1050000" cy="0"/>
          </a:xfrm>
          <a:prstGeom prst="line">
            <a:avLst/>
          </a:prstGeom>
          <a:ln w="12700">
            <a:solidFill>
              <a:srgbClr val="3FD0C0"/>
            </a:solidFill>
          </a:ln>
        </p:spPr>
      </p:cxnSp>
      <p:sp>
        <p:nvSpPr>
          <p:cNvPr id="141" name="Clase Rojo miembros 1"/>
          <p:cNvSpPr txBox="1"/>
          <p:nvPr/>
        </p:nvSpPr>
        <p:spPr>
          <a:xfrm>
            <a:off x="9496192" y="3460000"/>
            <a:ext cx="105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aplicar()</a:t>
            </a:r>
          </a:p>
        </p:txBody>
      </p:sp>
      <p:sp>
        <p:nvSpPr>
          <p:cNvPr id="142" name="Clase Azul"/>
          <p:cNvSpPr/>
          <p:nvPr/>
        </p:nvSpPr>
        <p:spPr>
          <a:xfrm>
            <a:off x="10646192" y="3100000"/>
            <a:ext cx="1050000" cy="660000"/>
          </a:xfrm>
          <a:prstGeom prst="rect">
            <a:avLst/>
          </a:prstGeom>
          <a:solidFill>
            <a:srgbClr val="26324F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43" name="Clase Azul cabecera"/>
          <p:cNvSpPr/>
          <p:nvPr/>
        </p:nvSpPr>
        <p:spPr>
          <a:xfrm>
            <a:off x="10646192" y="3100000"/>
            <a:ext cx="1050000" cy="360000"/>
          </a:xfrm>
          <a:prstGeom prst="rect">
            <a:avLst/>
          </a:prstGeom>
          <a:solidFill>
            <a:srgbClr val="12494A"/>
          </a:solidFill>
          <a:ln w="19050">
            <a:solidFill>
              <a:srgbClr val="3FD0C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44" name="Clase Azul nombre"/>
          <p:cNvSpPr txBox="1"/>
          <p:nvPr/>
        </p:nvSpPr>
        <p:spPr>
          <a:xfrm>
            <a:off x="10646192" y="3100000"/>
            <a:ext cx="105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s-CO" sz="1400" dirty="0">
                <a:solidFill>
                  <a:srgbClr val="3FD0C0"/>
                </a:solidFill>
                <a:latin typeface="Georgia" pitchFamily="18" charset="0"/>
                <a:ea typeface="Georgia" charset="-122"/>
                <a:cs typeface="Georgia" charset="-120"/>
              </a:rPr>
              <a:t>Azul</a:t>
            </a:r>
          </a:p>
        </p:txBody>
      </p:sp>
      <p:cxnSp>
        <p:nvCxnSpPr>
          <p:cNvPr id="145" name="Clase Azul separador 1"/>
          <p:cNvCxnSpPr/>
          <p:nvPr/>
        </p:nvCxnSpPr>
        <p:spPr>
          <a:xfrm>
            <a:off x="10646192" y="3460000"/>
            <a:ext cx="1050000" cy="0"/>
          </a:xfrm>
          <a:prstGeom prst="line">
            <a:avLst/>
          </a:prstGeom>
          <a:ln w="12700">
            <a:solidFill>
              <a:srgbClr val="3FD0C0"/>
            </a:solidFill>
          </a:ln>
        </p:spPr>
      </p:cxnSp>
      <p:sp>
        <p:nvSpPr>
          <p:cNvPr id="146" name="Clase Azul miembros 1"/>
          <p:cNvSpPr txBox="1"/>
          <p:nvPr/>
        </p:nvSpPr>
        <p:spPr>
          <a:xfrm>
            <a:off x="10646192" y="3460000"/>
            <a:ext cx="1050000" cy="30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D9D5C9"/>
                </a:solidFill>
                <a:latin typeface="Arial" pitchFamily="34" charset="0"/>
                <a:ea typeface="Arial" charset="-122"/>
                <a:cs typeface="Arial" charset="-120"/>
              </a:rPr>
              <a:t>+ aplicar()</a:t>
            </a:r>
          </a:p>
        </p:txBody>
      </p:sp>
      <p:sp>
        <p:nvSpPr>
          <p:cNvPr id="31" name="Resultado card"/>
          <p:cNvSpPr/>
          <p:nvPr/>
        </p:nvSpPr>
        <p:spPr>
          <a:xfrm>
            <a:off x="6273800" y="4050000"/>
            <a:ext cx="5422392" cy="1800000"/>
          </a:xfrm>
          <a:prstGeom prst="roundRect">
            <a:avLst>
              <a:gd name="adj" fmla="val 8658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2"/>
          <p:cNvSpPr/>
          <p:nvPr/>
        </p:nvSpPr>
        <p:spPr>
          <a:xfrm>
            <a:off x="6273800" y="4050000"/>
            <a:ext cx="5422392" cy="1800000"/>
          </a:xfrm>
          <a:custGeom>
            <a:avLst/>
            <a:gdLst/>
            <a:ahLst/>
            <a:cxnLst/>
            <a:rect l="l" t="t" r="r" b="b"/>
            <a:pathLst>
              <a:path w="5422392" h="1800000">
                <a:moveTo>
                  <a:pt x="76200" y="1800000"/>
                </a:moveTo>
                <a:lnTo>
                  <a:pt x="76200" y="180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723800"/>
                </a:lnTo>
                <a:arcTo wR="25400" hR="76200" stAng="108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Resultado label"/>
          <p:cNvSpPr/>
          <p:nvPr/>
        </p:nvSpPr>
        <p:spPr>
          <a:xfrm>
            <a:off x="6503800" y="4180000"/>
            <a:ext cx="5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3 FORMAS Y 3 COLORES</a:t>
            </a:r>
          </a:p>
        </p:txBody>
      </p:sp>
      <p:sp>
        <p:nvSpPr>
          <p:cNvPr id="34" name="Resultado 9"/>
          <p:cNvSpPr/>
          <p:nvPr/>
        </p:nvSpPr>
        <p:spPr>
          <a:xfrm>
            <a:off x="6503800" y="4550000"/>
            <a:ext cx="11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s-CO" sz="6000" dirty="0">
                <a:solidFill>
                  <a:srgbClr val="FF8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</a:t>
            </a:r>
          </a:p>
        </p:txBody>
      </p:sp>
      <p:sp>
        <p:nvSpPr>
          <p:cNvPr id="35" name="Resultado 9 label"/>
          <p:cNvSpPr/>
          <p:nvPr/>
        </p:nvSpPr>
        <p:spPr>
          <a:xfrm>
            <a:off x="6503800" y="5350000"/>
            <a:ext cx="19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herencia</a:t>
            </a:r>
          </a:p>
        </p:txBody>
      </p:sp>
      <p:sp>
        <p:nvSpPr>
          <p:cNvPr id="36" name="Resultado arrow"/>
          <p:cNvSpPr/>
          <p:nvPr/>
        </p:nvSpPr>
        <p:spPr>
          <a:xfrm>
            <a:off x="8273800" y="465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s-CO" sz="320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</a:p>
        </p:txBody>
      </p:sp>
      <p:sp>
        <p:nvSpPr>
          <p:cNvPr id="37" name="Resultado 6"/>
          <p:cNvSpPr/>
          <p:nvPr/>
        </p:nvSpPr>
        <p:spPr>
          <a:xfrm>
            <a:off x="9073800" y="4550000"/>
            <a:ext cx="11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s-CO" sz="6000" dirty="0">
                <a:solidFill>
                  <a:srgbClr val="3FD0C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</a:t>
            </a:r>
          </a:p>
        </p:txBody>
      </p:sp>
      <p:sp>
        <p:nvSpPr>
          <p:cNvPr id="38" name="Resultado 6 label"/>
          <p:cNvSpPr/>
          <p:nvPr/>
        </p:nvSpPr>
        <p:spPr>
          <a:xfrm>
            <a:off x="9073800" y="5350000"/>
            <a:ext cx="24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 Bridge (N + M)</a:t>
            </a:r>
          </a:p>
        </p:txBody>
      </p:sp>
      <p:sp>
        <p:nvSpPr>
          <p:cNvPr id="39" name="Footer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</a:p>
        </p:txBody>
      </p:sp>
      <p:sp>
        <p:nvSpPr>
          <p:cNvPr id="40" name="Page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s-CO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EBE6D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¿Cómo funciona?</a:t>
            </a:r>
            <a:endParaRPr lang="en-US" sz="3600" dirty="0"/>
          </a:p>
        </p:txBody>
      </p:sp>
      <p:pic>
        <p:nvPicPr>
          <p:cNvPr id="4" name="Image 0" descr="Diagrama de clases UML del patrón Bridge: Abstraction se une a la interfaz Implementor mediante composición, con una subclase refinada y dos implementaciones concretas"/>
          <p:cNvPicPr>
            <a:picLocks noChangeAspect="1"/>
          </p:cNvPicPr>
          <p:nvPr/>
        </p:nvPicPr>
        <p:blipFill>
          <a:blip r:embed="rId3"/>
          <a:srcRect l="-20" r="-20" b="10241"/>
          <a:stretch/>
        </p:blipFill>
        <p:spPr>
          <a:xfrm>
            <a:off x="812800" y="1518920"/>
            <a:ext cx="10566400" cy="30157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770120"/>
            <a:ext cx="23098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86A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81881" y="4770120"/>
            <a:ext cx="23063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usa solo la abstracción.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98850" y="4770120"/>
            <a:ext cx="22852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86A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765471" y="4770120"/>
            <a:ext cx="230887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delega el trabajo en su implementador.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84900" y="4770120"/>
            <a:ext cx="2363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86A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59379" y="4770120"/>
            <a:ext cx="23007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jerarquía crece sin afectar a la otra.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70950" y="4770120"/>
            <a:ext cx="2121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86A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121219" y="4770120"/>
            <a:ext cx="23257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implementador puede cambiarse en ejecución.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1D264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Aplicabilidad: casos de uso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85876" y="1874519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PARA APLICARLO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5876" y="2325371"/>
            <a:ext cx="5130800" cy="417830"/>
          </a:xfrm>
          <a:prstGeom prst="roundRect">
            <a:avLst>
              <a:gd name="adj" fmla="val 18237"/>
            </a:avLst>
          </a:prstGeom>
          <a:solidFill>
            <a:srgbClr val="1A2236"/>
          </a:solidFill>
          <a:ln/>
        </p:spPr>
        <p:txBody>
          <a:bodyPr wrap="square" lIns="193582" tIns="79282" rIns="288" bIns="538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cambia por dos motivos distintos e independientes.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5876" y="2325371"/>
            <a:ext cx="5130800" cy="417830"/>
          </a:xfrm>
          <a:custGeom>
            <a:avLst/>
            <a:gdLst/>
            <a:ahLst/>
            <a:cxnLst/>
            <a:rect l="l" t="t" r="r" b="b"/>
            <a:pathLst>
              <a:path w="5130800" h="417830">
                <a:moveTo>
                  <a:pt x="76200" y="417830"/>
                </a:moveTo>
                <a:lnTo>
                  <a:pt x="76200" y="4178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34163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5876" y="2966719"/>
            <a:ext cx="5130800" cy="417830"/>
          </a:xfrm>
          <a:prstGeom prst="roundRect">
            <a:avLst>
              <a:gd name="adj" fmla="val 18237"/>
            </a:avLst>
          </a:prstGeom>
          <a:solidFill>
            <a:srgbClr val="1A2236"/>
          </a:solidFill>
          <a:ln/>
        </p:spPr>
        <p:txBody>
          <a:bodyPr wrap="square" lIns="193582" tIns="79282" rIns="288" bIns="538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por combinación haría crecer la jerarquía sin control.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5876" y="2832099"/>
            <a:ext cx="5130800" cy="417830"/>
          </a:xfrm>
          <a:custGeom>
            <a:avLst/>
            <a:gdLst/>
            <a:ahLst/>
            <a:cxnLst/>
            <a:rect l="l" t="t" r="r" b="b"/>
            <a:pathLst>
              <a:path w="5130800" h="417830">
                <a:moveTo>
                  <a:pt x="76200" y="417830"/>
                </a:moveTo>
                <a:lnTo>
                  <a:pt x="76200" y="4178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34163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5876" y="3338831"/>
            <a:ext cx="5130800" cy="417830"/>
          </a:xfrm>
          <a:prstGeom prst="roundRect">
            <a:avLst>
              <a:gd name="adj" fmla="val 18237"/>
            </a:avLst>
          </a:prstGeom>
          <a:solidFill>
            <a:srgbClr val="1A2236"/>
          </a:solidFill>
          <a:ln/>
        </p:spPr>
        <p:txBody>
          <a:bodyPr wrap="square" lIns="193582" tIns="79282" rIns="288" bIns="538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cambiar la implementación mientras la app corre.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5876" y="3338831"/>
            <a:ext cx="5130800" cy="417830"/>
          </a:xfrm>
          <a:custGeom>
            <a:avLst/>
            <a:gdLst/>
            <a:ahLst/>
            <a:cxnLst/>
            <a:rect l="l" t="t" r="r" b="b"/>
            <a:pathLst>
              <a:path w="5130800" h="417830">
                <a:moveTo>
                  <a:pt x="76200" y="417830"/>
                </a:moveTo>
                <a:lnTo>
                  <a:pt x="76200" y="4178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34163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5876" y="3845560"/>
            <a:ext cx="5130800" cy="632460"/>
          </a:xfrm>
          <a:prstGeom prst="roundRect">
            <a:avLst>
              <a:gd name="adj" fmla="val 12048"/>
            </a:avLst>
          </a:prstGeom>
          <a:solidFill>
            <a:srgbClr val="1A2236"/>
          </a:solidFill>
          <a:ln/>
        </p:spPr>
        <p:txBody>
          <a:bodyPr wrap="square" lIns="193582" tIns="79282" rIns="288" bIns="538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Debes soportar varias plataformas o proveedores sin duplicar lógica.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5876" y="3845560"/>
            <a:ext cx="5130800" cy="632460"/>
          </a:xfrm>
          <a:custGeom>
            <a:avLst/>
            <a:gdLst/>
            <a:ahLst/>
            <a:cxnLst/>
            <a:rect l="l" t="t" r="r" b="b"/>
            <a:pathLst>
              <a:path w="5130800" h="632460">
                <a:moveTo>
                  <a:pt x="76200" y="632460"/>
                </a:moveTo>
                <a:lnTo>
                  <a:pt x="76200" y="6324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55626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48400" y="1813561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TÍPICOS: ABSTRACCIÓN × IMPLEMENTACIÓN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8400" y="2133601"/>
            <a:ext cx="2520950" cy="624840"/>
          </a:xfrm>
          <a:prstGeom prst="roundRect">
            <a:avLst>
              <a:gd name="adj" fmla="val 12195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5400" y="2222501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gráficas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75400" y="2479040"/>
            <a:ext cx="233495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Ventanas × sistemas operativos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8400" y="2847340"/>
            <a:ext cx="2520950" cy="815340"/>
          </a:xfrm>
          <a:prstGeom prst="roundRect">
            <a:avLst>
              <a:gd name="adj" fmla="val 9346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75400" y="2936240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5400" y="3192779"/>
            <a:ext cx="233495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mensaje × canales de envío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8400" y="3751579"/>
            <a:ext cx="2520950" cy="815340"/>
          </a:xfrm>
          <a:prstGeom prst="roundRect">
            <a:avLst>
              <a:gd name="adj" fmla="val 9346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5400" y="3840479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5400" y="4097022"/>
            <a:ext cx="233495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reporte × formatos de salida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58250" y="2133601"/>
            <a:ext cx="2520950" cy="815340"/>
          </a:xfrm>
          <a:prstGeom prst="roundRect">
            <a:avLst>
              <a:gd name="adj" fmla="val 9346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85250" y="2222501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85250" y="2479040"/>
            <a:ext cx="233495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× motores de base de datos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58250" y="3037840"/>
            <a:ext cx="2520950" cy="624840"/>
          </a:xfrm>
          <a:prstGeom prst="roundRect">
            <a:avLst>
              <a:gd name="adj" fmla="val 12195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85250" y="3126740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85250" y="3383279"/>
            <a:ext cx="233495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× TV, radio, proyector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58250" y="3751579"/>
            <a:ext cx="2520950" cy="815340"/>
          </a:xfrm>
          <a:prstGeom prst="roundRect">
            <a:avLst>
              <a:gd name="adj" fmla="val 9346"/>
            </a:avLst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85250" y="3840479"/>
            <a:ext cx="23349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85250" y="4097022"/>
            <a:ext cx="233495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cobro × pasarelas de pago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s-CO" sz="18000" dirty="0">
                <a:solidFill>
                  <a:srgbClr val="EBE6D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07</a:t>
            </a: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Pros y contras</a:t>
            </a:r>
          </a:p>
        </p:txBody>
      </p:sp>
      <p:sp>
        <p:nvSpPr>
          <p:cNvPr id="4" name="Pros label"/>
          <p:cNvSpPr/>
          <p:nvPr/>
        </p:nvSpPr>
        <p:spPr>
          <a:xfrm>
            <a:off x="812800" y="148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s-CO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</a:p>
        </p:txBody>
      </p:sp>
      <p:sp>
        <p:nvSpPr>
          <p:cNvPr id="5" name="Pro 0"/>
          <p:cNvSpPr/>
          <p:nvPr/>
        </p:nvSpPr>
        <p:spPr>
          <a:xfrm>
            <a:off x="812800" y="1800000"/>
            <a:ext cx="6500000" cy="95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6"/>
          <p:cNvSpPr/>
          <p:nvPr/>
        </p:nvSpPr>
        <p:spPr>
          <a:xfrm>
            <a:off x="812800" y="1800000"/>
            <a:ext cx="6500000" cy="950000"/>
          </a:xfrm>
          <a:custGeom>
            <a:avLst/>
            <a:gdLst/>
            <a:ahLst/>
            <a:cxnLst/>
            <a:rect l="l" t="t" r="r" b="b"/>
            <a:pathLst>
              <a:path w="6500000" h="950000">
                <a:moveTo>
                  <a:pt x="76200" y="950000"/>
                </a:moveTo>
                <a:lnTo>
                  <a:pt x="76200" y="95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7380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Pro title 0"/>
          <p:cNvSpPr/>
          <p:nvPr/>
        </p:nvSpPr>
        <p:spPr>
          <a:xfrm>
            <a:off x="1042800" y="1900000"/>
            <a:ext cx="6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 la plataforma</a:t>
            </a:r>
          </a:p>
        </p:txBody>
      </p:sp>
      <p:sp>
        <p:nvSpPr>
          <p:cNvPr id="8" name="Pro text 0"/>
          <p:cNvSpPr/>
          <p:nvPr/>
        </p:nvSpPr>
        <p:spPr>
          <a:xfrm>
            <a:off x="1042800" y="2170000"/>
            <a:ext cx="6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crear clases y aplicaciones que no dependen de una plataforma concreta.</a:t>
            </a:r>
          </a:p>
        </p:txBody>
      </p:sp>
      <p:sp>
        <p:nvSpPr>
          <p:cNvPr id="9" name="Pro 1"/>
          <p:cNvSpPr/>
          <p:nvPr/>
        </p:nvSpPr>
        <p:spPr>
          <a:xfrm>
            <a:off x="812800" y="2850000"/>
            <a:ext cx="6500000" cy="95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10"/>
          <p:cNvSpPr/>
          <p:nvPr/>
        </p:nvSpPr>
        <p:spPr>
          <a:xfrm>
            <a:off x="812800" y="2850000"/>
            <a:ext cx="6500000" cy="950000"/>
          </a:xfrm>
          <a:custGeom>
            <a:avLst/>
            <a:gdLst/>
            <a:ahLst/>
            <a:cxnLst/>
            <a:rect l="l" t="t" r="r" b="b"/>
            <a:pathLst>
              <a:path w="6500000" h="950000">
                <a:moveTo>
                  <a:pt x="76200" y="950000"/>
                </a:moveTo>
                <a:lnTo>
                  <a:pt x="76200" y="95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7380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Pro title 1"/>
          <p:cNvSpPr/>
          <p:nvPr/>
        </p:nvSpPr>
        <p:spPr>
          <a:xfrm>
            <a:off x="1042800" y="2950000"/>
            <a:ext cx="6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 alto nivel</a:t>
            </a:r>
          </a:p>
        </p:txBody>
      </p:sp>
      <p:sp>
        <p:nvSpPr>
          <p:cNvPr id="12" name="Pro text 1"/>
          <p:cNvSpPr/>
          <p:nvPr/>
        </p:nvSpPr>
        <p:spPr>
          <a:xfrm>
            <a:off x="1042800" y="3220000"/>
            <a:ext cx="6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cliente trabaja con abstracciones y no se expone a los detalles de la plataforma.</a:t>
            </a:r>
          </a:p>
        </p:txBody>
      </p:sp>
      <p:sp>
        <p:nvSpPr>
          <p:cNvPr id="13" name="Pro 2"/>
          <p:cNvSpPr/>
          <p:nvPr/>
        </p:nvSpPr>
        <p:spPr>
          <a:xfrm>
            <a:off x="812800" y="3900000"/>
            <a:ext cx="6500000" cy="95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4"/>
          <p:cNvSpPr/>
          <p:nvPr/>
        </p:nvSpPr>
        <p:spPr>
          <a:xfrm>
            <a:off x="812800" y="3900000"/>
            <a:ext cx="6500000" cy="950000"/>
          </a:xfrm>
          <a:custGeom>
            <a:avLst/>
            <a:gdLst/>
            <a:ahLst/>
            <a:cxnLst/>
            <a:rect l="l" t="t" r="r" b="b"/>
            <a:pathLst>
              <a:path w="6500000" h="950000">
                <a:moveTo>
                  <a:pt x="76200" y="950000"/>
                </a:moveTo>
                <a:lnTo>
                  <a:pt x="76200" y="95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7380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Pro title 2"/>
          <p:cNvSpPr/>
          <p:nvPr/>
        </p:nvSpPr>
        <p:spPr>
          <a:xfrm>
            <a:off x="1042800" y="4000000"/>
            <a:ext cx="6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Abierto/cerrado</a:t>
            </a:r>
          </a:p>
        </p:txBody>
      </p:sp>
      <p:sp>
        <p:nvSpPr>
          <p:cNvPr id="16" name="Pro text 2"/>
          <p:cNvSpPr/>
          <p:nvPr/>
        </p:nvSpPr>
        <p:spPr>
          <a:xfrm>
            <a:off x="1042800" y="4270000"/>
            <a:ext cx="6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introducir nuevas abstracciones e implementaciones sin que una dependa de la otra.</a:t>
            </a:r>
          </a:p>
        </p:txBody>
      </p:sp>
      <p:sp>
        <p:nvSpPr>
          <p:cNvPr id="17" name="Pro 3"/>
          <p:cNvSpPr/>
          <p:nvPr/>
        </p:nvSpPr>
        <p:spPr>
          <a:xfrm>
            <a:off x="812800" y="4950000"/>
            <a:ext cx="6500000" cy="95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8"/>
          <p:cNvSpPr/>
          <p:nvPr/>
        </p:nvSpPr>
        <p:spPr>
          <a:xfrm>
            <a:off x="812800" y="4950000"/>
            <a:ext cx="6500000" cy="950000"/>
          </a:xfrm>
          <a:custGeom>
            <a:avLst/>
            <a:gdLst/>
            <a:ahLst/>
            <a:cxnLst/>
            <a:rect l="l" t="t" r="r" b="b"/>
            <a:pathLst>
              <a:path w="6500000" h="950000">
                <a:moveTo>
                  <a:pt x="76200" y="950000"/>
                </a:moveTo>
                <a:lnTo>
                  <a:pt x="76200" y="95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73800"/>
                </a:lnTo>
                <a:arcTo wR="25400" hR="76200" stAng="108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Pro title 3"/>
          <p:cNvSpPr/>
          <p:nvPr/>
        </p:nvSpPr>
        <p:spPr>
          <a:xfrm>
            <a:off x="1042800" y="5050000"/>
            <a:ext cx="61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única</a:t>
            </a:r>
          </a:p>
        </p:txBody>
      </p:sp>
      <p:sp>
        <p:nvSpPr>
          <p:cNvPr id="20" name="Pro text 3"/>
          <p:cNvSpPr/>
          <p:nvPr/>
        </p:nvSpPr>
        <p:spPr>
          <a:xfrm>
            <a:off x="1042800" y="5320000"/>
            <a:ext cx="6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abstracción se centra en la lógica de alto nivel; la implementación, en los detalles de la plataforma.</a:t>
            </a:r>
          </a:p>
        </p:txBody>
      </p:sp>
      <p:sp>
        <p:nvSpPr>
          <p:cNvPr id="21" name="Contras label"/>
          <p:cNvSpPr/>
          <p:nvPr/>
        </p:nvSpPr>
        <p:spPr>
          <a:xfrm>
            <a:off x="7612800" y="1480000"/>
            <a:ext cx="408339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s-CO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 Y ALTERNATIVAS</a:t>
            </a:r>
          </a:p>
        </p:txBody>
      </p:sp>
      <p:sp>
        <p:nvSpPr>
          <p:cNvPr id="22" name="Con 0"/>
          <p:cNvSpPr/>
          <p:nvPr/>
        </p:nvSpPr>
        <p:spPr>
          <a:xfrm>
            <a:off x="7612800" y="1800000"/>
            <a:ext cx="4083392" cy="130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3"/>
          <p:cNvSpPr/>
          <p:nvPr/>
        </p:nvSpPr>
        <p:spPr>
          <a:xfrm>
            <a:off x="7612800" y="1800000"/>
            <a:ext cx="4083392" cy="1300000"/>
          </a:xfrm>
          <a:custGeom>
            <a:avLst/>
            <a:gdLst/>
            <a:ahLst/>
            <a:cxnLst/>
            <a:rect l="l" t="t" r="r" b="b"/>
            <a:pathLst>
              <a:path w="4083392" h="1300000">
                <a:moveTo>
                  <a:pt x="76200" y="1300000"/>
                </a:moveTo>
                <a:lnTo>
                  <a:pt x="76200" y="130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223800"/>
                </a:lnTo>
                <a:arcTo wR="25400" hR="76200" stAng="108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Con title 0"/>
          <p:cNvSpPr/>
          <p:nvPr/>
        </p:nvSpPr>
        <p:spPr>
          <a:xfrm>
            <a:off x="7842800" y="1930000"/>
            <a:ext cx="3683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clases e indirección</a:t>
            </a:r>
          </a:p>
        </p:txBody>
      </p:sp>
      <p:sp>
        <p:nvSpPr>
          <p:cNvPr id="25" name="Con text 0"/>
          <p:cNvSpPr/>
          <p:nvPr/>
        </p:nvSpPr>
        <p:spPr>
          <a:xfrm>
            <a:off x="7842800" y="2220000"/>
            <a:ext cx="3683392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suma piezas y capas que hay que seguir.</a:t>
            </a:r>
          </a:p>
        </p:txBody>
      </p:sp>
      <p:sp>
        <p:nvSpPr>
          <p:cNvPr id="26" name="Con 1"/>
          <p:cNvSpPr/>
          <p:nvPr/>
        </p:nvSpPr>
        <p:spPr>
          <a:xfrm>
            <a:off x="7612800" y="3200000"/>
            <a:ext cx="4083392" cy="130000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7"/>
          <p:cNvSpPr/>
          <p:nvPr/>
        </p:nvSpPr>
        <p:spPr>
          <a:xfrm>
            <a:off x="7612800" y="3200000"/>
            <a:ext cx="4083392" cy="1300000"/>
          </a:xfrm>
          <a:custGeom>
            <a:avLst/>
            <a:gdLst/>
            <a:ahLst/>
            <a:cxnLst/>
            <a:rect l="l" t="t" r="r" b="b"/>
            <a:pathLst>
              <a:path w="4083392" h="1300000">
                <a:moveTo>
                  <a:pt x="76200" y="1300000"/>
                </a:moveTo>
                <a:lnTo>
                  <a:pt x="76200" y="13000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223800"/>
                </a:lnTo>
                <a:arcTo wR="25400" hR="76200" stAng="108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Con title 1"/>
          <p:cNvSpPr/>
          <p:nvPr/>
        </p:nvSpPr>
        <p:spPr>
          <a:xfrm>
            <a:off x="7842800" y="3330000"/>
            <a:ext cx="368339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Sobra con un solo eje</a:t>
            </a:r>
          </a:p>
        </p:txBody>
      </p:sp>
      <p:sp>
        <p:nvSpPr>
          <p:cNvPr id="29" name="Con text 1"/>
          <p:cNvSpPr/>
          <p:nvPr/>
        </p:nvSpPr>
        <p:spPr>
          <a:xfrm>
            <a:off x="7842800" y="3620000"/>
            <a:ext cx="3683392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s-CO" sz="125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clase varía en una sola dimensión, el patrón no aporta nada.</a:t>
            </a:r>
          </a:p>
        </p:txBody>
      </p:sp>
      <p:sp>
        <p:nvSpPr>
          <p:cNvPr id="34" name="Footer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</a:p>
        </p:txBody>
      </p:sp>
      <p:sp>
        <p:nvSpPr>
          <p:cNvPr id="35" name="Page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s-CO" sz="12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EBE6D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08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PRACTICO · CASO MÚLTIPLES FORMATOS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963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Ejemplo: exportación de reportes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851661"/>
            <a:ext cx="4524310" cy="1003506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1851661"/>
            <a:ext cx="4524310" cy="1239520"/>
          </a:xfrm>
          <a:custGeom>
            <a:avLst/>
            <a:gdLst/>
            <a:ahLst/>
            <a:cxnLst/>
            <a:rect l="l" t="t" r="r" b="b"/>
            <a:pathLst>
              <a:path w="2546350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2470150" y="0"/>
                </a:lnTo>
                <a:arcTo wR="76200" hR="76200" stAng="16200000" swAng="5400000"/>
                <a:lnTo>
                  <a:pt x="254635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2500" y="1976121"/>
            <a:ext cx="23349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2500" y="2197100"/>
            <a:ext cx="4291304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genera reportes de ventas y de inventario que se descargan en PDF, HTML o JSON.</a:t>
            </a:r>
            <a:endParaRPr lang="en-US" sz="1200" dirty="0"/>
          </a:p>
        </p:txBody>
      </p:sp>
      <p:sp>
        <p:nvSpPr>
          <p:cNvPr id="31" name="Shape SOLID 1"/>
          <p:cNvSpPr/>
          <p:nvPr/>
        </p:nvSpPr>
        <p:spPr>
          <a:xfrm>
            <a:off x="5565710" y="1851661"/>
            <a:ext cx="6130482" cy="1003506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SOLID 2"/>
          <p:cNvSpPr/>
          <p:nvPr/>
        </p:nvSpPr>
        <p:spPr>
          <a:xfrm>
            <a:off x="5565710" y="1851661"/>
            <a:ext cx="6130482" cy="1239520"/>
          </a:xfrm>
          <a:custGeom>
            <a:avLst/>
            <a:gdLst/>
            <a:ahLst/>
            <a:cxnLst/>
            <a:rect l="l" t="t" r="r" b="b"/>
            <a:pathLst>
              <a:path w="3450328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74128" y="0"/>
                </a:lnTo>
                <a:arcTo wR="76200" hR="76200" stAng="16200000" swAng="5400000"/>
                <a:lnTo>
                  <a:pt x="3450328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SOLID 1"/>
          <p:cNvSpPr/>
          <p:nvPr/>
        </p:nvSpPr>
        <p:spPr>
          <a:xfrm>
            <a:off x="5705410" y="1976121"/>
            <a:ext cx="585108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s-ES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QUE VIOLA</a:t>
            </a:r>
            <a:endParaRPr lang="es-ES" sz="1100" dirty="0"/>
          </a:p>
        </p:txBody>
      </p:sp>
      <p:sp>
        <p:nvSpPr>
          <p:cNvPr id="34" name="Text SOLID 2"/>
          <p:cNvSpPr/>
          <p:nvPr/>
        </p:nvSpPr>
        <p:spPr>
          <a:xfrm>
            <a:off x="5705410" y="2197100"/>
            <a:ext cx="5851082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0"/>
              </a:lnSpc>
              <a:buNone/>
            </a:pPr>
            <a:r>
              <a:rPr lang="es-ES" sz="1100" b="1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SRP: </a:t>
            </a:r>
            <a:r>
              <a:rPr lang="es-ES" sz="11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clase mezcla qué datos incluir con cómo escribirlos.</a:t>
            </a:r>
            <a:endParaRPr lang="es-ES" sz="1100" dirty="0"/>
          </a:p>
          <a:p>
            <a:pPr marL="0" indent="0" algn="l">
              <a:lnSpc>
                <a:spcPts val="1430"/>
              </a:lnSpc>
              <a:buNone/>
            </a:pPr>
            <a:r>
              <a:rPr lang="es-ES" sz="1100" b="1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OCP: </a:t>
            </a:r>
            <a:r>
              <a:rPr lang="es-ES" sz="11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formato nuevo obliga a crear o modificar muchas clases.</a:t>
            </a:r>
            <a:endParaRPr lang="es-ES" sz="1100" dirty="0"/>
          </a:p>
          <a:p>
            <a:pPr marL="0" indent="0" algn="l">
              <a:lnSpc>
                <a:spcPts val="1430"/>
              </a:lnSpc>
              <a:buNone/>
            </a:pPr>
            <a:r>
              <a:rPr lang="es-ES" sz="1100" b="1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DIP: </a:t>
            </a:r>
            <a:r>
              <a:rPr lang="es-ES" sz="11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reporte depende de formatos concretos, no de una abstracción.</a:t>
            </a:r>
            <a:endParaRPr lang="es-E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3D11CD3-43EA-A655-3242-7362A4938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84" y="3736640"/>
            <a:ext cx="10883392" cy="2793404"/>
          </a:xfrm>
          <a:prstGeom prst="rect">
            <a:avLst/>
          </a:prstGeom>
        </p:spPr>
      </p:pic>
      <p:sp>
        <p:nvSpPr>
          <p:cNvPr id="24" name="Text 2">
            <a:extLst>
              <a:ext uri="{FF2B5EF4-FFF2-40B4-BE49-F238E27FC236}">
                <a16:creationId xmlns:a16="http://schemas.microsoft.com/office/drawing/2014/main" id="{4DCB948B-73A4-1595-C6FB-967C81A9CD3F}"/>
              </a:ext>
            </a:extLst>
          </p:cNvPr>
          <p:cNvSpPr txBox="1">
            <a:spLocks/>
          </p:cNvSpPr>
          <p:nvPr/>
        </p:nvSpPr>
        <p:spPr>
          <a:xfrm>
            <a:off x="800608" y="3028128"/>
            <a:ext cx="341682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3600" kern="1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>
              <a:lnSpc>
                <a:spcPts val="3960"/>
              </a:lnSpc>
            </a:pPr>
            <a:r>
              <a:rPr lang="es-ES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Antes de bridge: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92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EBE6D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09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PRACTICO · CASO MÚLTIPLES FORMATOS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963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Desp</a:t>
            </a:r>
            <a:r>
              <a:rPr lang="es-419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ú</a:t>
            </a:r>
            <a:r>
              <a:rPr lang="en-US" sz="3600" b="0" i="0" dirty="0">
                <a:solidFill>
                  <a:srgbClr val="0F14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es de bridge: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851661"/>
            <a:ext cx="2546350" cy="123952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12800" y="1851661"/>
            <a:ext cx="2546350" cy="1239520"/>
          </a:xfrm>
          <a:custGeom>
            <a:avLst/>
            <a:gdLst/>
            <a:ahLst/>
            <a:cxnLst/>
            <a:rect l="l" t="t" r="r" b="b"/>
            <a:pathLst>
              <a:path w="2546350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2470150" y="0"/>
                </a:lnTo>
                <a:arcTo wR="76200" hR="76200" stAng="16200000" swAng="5400000"/>
                <a:lnTo>
                  <a:pt x="254635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2500" y="1976121"/>
            <a:ext cx="23349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2500" y="2197100"/>
            <a:ext cx="233495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genera reportes de ventas y de inventario que se descargan en PDF, HTML o JSON.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6150" y="1851661"/>
            <a:ext cx="2546350" cy="123952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86150" y="1851661"/>
            <a:ext cx="2546350" cy="1239520"/>
          </a:xfrm>
          <a:custGeom>
            <a:avLst/>
            <a:gdLst/>
            <a:ahLst/>
            <a:cxnLst/>
            <a:rect l="l" t="t" r="r" b="b"/>
            <a:pathLst>
              <a:path w="2546350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2470150" y="0"/>
                </a:lnTo>
                <a:arcTo wR="76200" hR="76200" stAng="16200000" swAng="5400000"/>
                <a:lnTo>
                  <a:pt x="254635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25850" y="1976121"/>
            <a:ext cx="23349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25850" y="2197100"/>
            <a:ext cx="233495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Reporte, con variantes como ReporteVentas y </a:t>
            </a:r>
            <a:r>
              <a:rPr lang="en-US" sz="1200" dirty="0" err="1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ReporteFinanciero</a:t>
            </a: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decide qué datos incluir.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9500" y="1851661"/>
            <a:ext cx="2546350" cy="123952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59500" y="1851661"/>
            <a:ext cx="2546350" cy="1239520"/>
          </a:xfrm>
          <a:custGeom>
            <a:avLst/>
            <a:gdLst/>
            <a:ahLst/>
            <a:cxnLst/>
            <a:rect l="l" t="t" r="r" b="b"/>
            <a:pathLst>
              <a:path w="2546350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2470150" y="0"/>
                </a:lnTo>
                <a:arcTo wR="76200" hR="76200" stAng="16200000" swAng="5400000"/>
                <a:lnTo>
                  <a:pt x="254635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2B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9200" y="1976121"/>
            <a:ext cx="23349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99200" y="2197100"/>
            <a:ext cx="233495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 err="1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FormatoReporte</a:t>
            </a: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PdfFormato, HtmlFormato y </a:t>
            </a:r>
            <a:r>
              <a:rPr lang="en-US" sz="1200" dirty="0" err="1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JSONFormato</a:t>
            </a: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sabe cómo escribir cada uno.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2850" y="1851661"/>
            <a:ext cx="2546350" cy="123952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32850" y="1851661"/>
            <a:ext cx="2546350" cy="1239520"/>
          </a:xfrm>
          <a:custGeom>
            <a:avLst/>
            <a:gdLst/>
            <a:ahLst/>
            <a:cxnLst/>
            <a:rect l="l" t="t" r="r" b="b"/>
            <a:pathLst>
              <a:path w="2546350" h="1239520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2470150" y="0"/>
                </a:lnTo>
                <a:arcTo wR="76200" hR="76200" stAng="16200000" swAng="5400000"/>
                <a:lnTo>
                  <a:pt x="254635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3FD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72550" y="1976121"/>
            <a:ext cx="23349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GANA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72550" y="2197100"/>
            <a:ext cx="233495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reportes y 3 formatos son 5 clases, no 6; con 4 y 4, son 8 en lugar de 16.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A8E7139-0428-A867-EC5F-FD1D09158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57" y="3201904"/>
            <a:ext cx="10500151" cy="31500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1320" y="127000"/>
            <a:ext cx="36626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dirty="0">
                <a:solidFill>
                  <a:srgbClr val="1A223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</a:t>
            </a:r>
            <a:endParaRPr lang="en-US" sz="180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40974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ES" dirty="0"/>
              <a:t>Ejercicio: Sistema de alertas universitarias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55389" y="316889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F2B4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389" y="3247637"/>
            <a:ext cx="48922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s-ES" sz="1400" dirty="0"/>
              <a:t>Identificar por qué el diseño inicial es difícil de ampliar.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5389" y="365022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F2B4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389" y="3575291"/>
            <a:ext cx="489229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5389" y="410364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F2B4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6295" y="4163939"/>
            <a:ext cx="489229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s-E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la solución en Java.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diseño Bridge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78792B24-D468-A8BC-24C9-BE93DCBB1F22}"/>
              </a:ext>
            </a:extLst>
          </p:cNvPr>
          <p:cNvSpPr/>
          <p:nvPr/>
        </p:nvSpPr>
        <p:spPr>
          <a:xfrm>
            <a:off x="812800" y="1072052"/>
            <a:ext cx="9483725" cy="657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ES" sz="1600" dirty="0"/>
              <a:t>Una universidad necesita enviar alertas académicas y urgentes mediante correo electrónico o SMS.</a:t>
            </a: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114A6ED-3EFF-1253-8193-1D41B968E3DA}"/>
              </a:ext>
            </a:extLst>
          </p:cNvPr>
          <p:cNvSpPr/>
          <p:nvPr/>
        </p:nvSpPr>
        <p:spPr>
          <a:xfrm>
            <a:off x="755389" y="4585487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F2B4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156954E-0727-BD45-E8B0-BCF6A331E6A4}"/>
              </a:ext>
            </a:extLst>
          </p:cNvPr>
          <p:cNvSpPr txBox="1"/>
          <p:nvPr/>
        </p:nvSpPr>
        <p:spPr>
          <a:xfrm>
            <a:off x="1034789" y="3640073"/>
            <a:ext cx="5328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Dibujar un nuevo diagrama UML que mejore la estructura actual.</a:t>
            </a:r>
            <a:endParaRPr lang="en-US" sz="14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4EC45AE-12C0-228A-FFED-D5D16539BD9C}"/>
              </a:ext>
            </a:extLst>
          </p:cNvPr>
          <p:cNvSpPr txBox="1"/>
          <p:nvPr/>
        </p:nvSpPr>
        <p:spPr>
          <a:xfrm>
            <a:off x="1034789" y="4547845"/>
            <a:ext cx="6531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Agregar WhatsApp sin crear una clase por cada combinación.</a:t>
            </a:r>
            <a:endParaRPr lang="en-US" sz="140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7321A163-8D0D-D578-21AD-A5F4A193FB60}"/>
              </a:ext>
            </a:extLst>
          </p:cNvPr>
          <p:cNvSpPr/>
          <p:nvPr/>
        </p:nvSpPr>
        <p:spPr>
          <a:xfrm>
            <a:off x="755389" y="2764291"/>
            <a:ext cx="1034662" cy="32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ES" b="1" dirty="0"/>
              <a:t>RETO: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9038591-2B0B-005C-9662-CF73F284D8BC}"/>
              </a:ext>
            </a:extLst>
          </p:cNvPr>
          <p:cNvSpPr txBox="1"/>
          <p:nvPr/>
        </p:nvSpPr>
        <p:spPr>
          <a:xfrm>
            <a:off x="685282" y="5259177"/>
            <a:ext cx="5215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Objetivo:</a:t>
            </a:r>
            <a:r>
              <a:rPr lang="es-ES" sz="1600" dirty="0"/>
              <a:t> separar el tipo de alerta del canal de envío para que ambos puedan cambiar independientemente.</a:t>
            </a: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63D86-CEC9-284D-0848-B75DBF3DD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282" y="1593531"/>
            <a:ext cx="99917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Problemática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Actualmente, cada combinación requiere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AcademicEmailAlert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AcademicSMSAlert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UrgentEmailAlert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UrgentSMSAlert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Agregar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nuevos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tipos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alertas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canales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aumenta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cantidad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dificulta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mantenimiento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lase Alert">
            <a:extLst>
              <a:ext uri="{FF2B5EF4-FFF2-40B4-BE49-F238E27FC236}">
                <a16:creationId xmlns:a16="http://schemas.microsoft.com/office/drawing/2014/main" id="{3C3D7633-0AEA-273B-CAA5-0F5F7C409863}"/>
              </a:ext>
            </a:extLst>
          </p:cNvPr>
          <p:cNvSpPr/>
          <p:nvPr/>
        </p:nvSpPr>
        <p:spPr>
          <a:xfrm>
            <a:off x="7884996" y="2750000"/>
            <a:ext cx="2200000" cy="86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B7791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" name="Clase Alert cabecera">
            <a:extLst>
              <a:ext uri="{FF2B5EF4-FFF2-40B4-BE49-F238E27FC236}">
                <a16:creationId xmlns:a16="http://schemas.microsoft.com/office/drawing/2014/main" id="{4AF7582D-124E-3EE1-7A0F-EB3EF7CAEDDB}"/>
              </a:ext>
            </a:extLst>
          </p:cNvPr>
          <p:cNvSpPr/>
          <p:nvPr/>
        </p:nvSpPr>
        <p:spPr>
          <a:xfrm>
            <a:off x="7884996" y="2750000"/>
            <a:ext cx="2200000" cy="520000"/>
          </a:xfrm>
          <a:prstGeom prst="rect">
            <a:avLst/>
          </a:prstGeom>
          <a:solidFill>
            <a:srgbClr val="F0A22E"/>
          </a:solidFill>
          <a:ln w="19050">
            <a:solidFill>
              <a:srgbClr val="B7791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Clase Alert nombre">
            <a:extLst>
              <a:ext uri="{FF2B5EF4-FFF2-40B4-BE49-F238E27FC236}">
                <a16:creationId xmlns:a16="http://schemas.microsoft.com/office/drawing/2014/main" id="{C5556B12-BD3D-405D-2A97-4E19CE1F515C}"/>
              </a:ext>
            </a:extLst>
          </p:cNvPr>
          <p:cNvSpPr txBox="1"/>
          <p:nvPr/>
        </p:nvSpPr>
        <p:spPr>
          <a:xfrm>
            <a:off x="7884996" y="2750000"/>
            <a:ext cx="2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O" sz="1200" i="1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«abstract»</a:t>
            </a:r>
          </a:p>
          <a:p>
            <a:pPr marL="0" indent="0" algn="ctr">
              <a:lnSpc>
                <a:spcPts val="2250"/>
              </a:lnSpc>
              <a:buNone/>
            </a:pPr>
            <a:r>
              <a:rPr lang="es-CO" sz="1800" b="1" i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Alert</a:t>
            </a:r>
          </a:p>
        </p:txBody>
      </p:sp>
      <p:cxnSp>
        <p:nvCxnSpPr>
          <p:cNvPr id="8" name="Clase Alert separador">
            <a:extLst>
              <a:ext uri="{FF2B5EF4-FFF2-40B4-BE49-F238E27FC236}">
                <a16:creationId xmlns:a16="http://schemas.microsoft.com/office/drawing/2014/main" id="{A7A279CA-199A-CC2F-CF66-B36104A14999}"/>
              </a:ext>
            </a:extLst>
          </p:cNvPr>
          <p:cNvCxnSpPr/>
          <p:nvPr/>
        </p:nvCxnSpPr>
        <p:spPr>
          <a:xfrm>
            <a:off x="7884996" y="3270000"/>
            <a:ext cx="2200000" cy="0"/>
          </a:xfrm>
          <a:prstGeom prst="line">
            <a:avLst/>
          </a:prstGeom>
          <a:ln w="12700">
            <a:solidFill>
              <a:srgbClr val="B7791F"/>
            </a:solidFill>
          </a:ln>
        </p:spPr>
      </p:cxnSp>
      <p:sp>
        <p:nvSpPr>
          <p:cNvPr id="15" name="Clase Alert métodos">
            <a:extLst>
              <a:ext uri="{FF2B5EF4-FFF2-40B4-BE49-F238E27FC236}">
                <a16:creationId xmlns:a16="http://schemas.microsoft.com/office/drawing/2014/main" id="{1C2ADB46-C5EB-5EB1-B1F5-DC56660DA07C}"/>
              </a:ext>
            </a:extLst>
          </p:cNvPr>
          <p:cNvSpPr txBox="1"/>
          <p:nvPr/>
        </p:nvSpPr>
        <p:spPr>
          <a:xfrm>
            <a:off x="7884996" y="3270000"/>
            <a:ext cx="2200000" cy="340000"/>
          </a:xfrm>
          <a:prstGeom prst="rect">
            <a:avLst/>
          </a:prstGeom>
          <a:noFill/>
          <a:ln/>
        </p:spPr>
        <p:txBody>
          <a:bodyPr wrap="square" lIns="7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+ send(message)</a:t>
            </a:r>
          </a:p>
        </p:txBody>
      </p:sp>
      <p:sp>
        <p:nvSpPr>
          <p:cNvPr id="16" name="Triángulo herencia">
            <a:extLst>
              <a:ext uri="{FF2B5EF4-FFF2-40B4-BE49-F238E27FC236}">
                <a16:creationId xmlns:a16="http://schemas.microsoft.com/office/drawing/2014/main" id="{36EC8AA6-F8D6-4175-52B8-16C59E16E5F1}"/>
              </a:ext>
            </a:extLst>
          </p:cNvPr>
          <p:cNvSpPr/>
          <p:nvPr/>
        </p:nvSpPr>
        <p:spPr>
          <a:xfrm>
            <a:off x="8884996" y="3610000"/>
            <a:ext cx="200000" cy="1500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D9D5C9"/>
            </a:solidFill>
          </a:ln>
        </p:spPr>
        <p:txBody>
          <a:bodyPr/>
          <a:lstStyle/>
          <a:p>
            <a:endParaRPr lang="es-CO"/>
          </a:p>
        </p:txBody>
      </p:sp>
      <p:cxnSp>
        <p:nvCxnSpPr>
          <p:cNvPr id="17" name="Tallo">
            <a:extLst>
              <a:ext uri="{FF2B5EF4-FFF2-40B4-BE49-F238E27FC236}">
                <a16:creationId xmlns:a16="http://schemas.microsoft.com/office/drawing/2014/main" id="{74D9A5AD-7F6A-EBC6-A61B-C7BD4DAC9F07}"/>
              </a:ext>
            </a:extLst>
          </p:cNvPr>
          <p:cNvCxnSpPr/>
          <p:nvPr/>
        </p:nvCxnSpPr>
        <p:spPr>
          <a:xfrm>
            <a:off x="8984996" y="3760000"/>
            <a:ext cx="0" cy="25000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cxnSp>
        <p:nvCxnSpPr>
          <p:cNvPr id="18" name="Bus">
            <a:extLst>
              <a:ext uri="{FF2B5EF4-FFF2-40B4-BE49-F238E27FC236}">
                <a16:creationId xmlns:a16="http://schemas.microsoft.com/office/drawing/2014/main" id="{AC3F67AC-27F0-12AA-C21B-8B174B72BC24}"/>
              </a:ext>
            </a:extLst>
          </p:cNvPr>
          <p:cNvCxnSpPr/>
          <p:nvPr/>
        </p:nvCxnSpPr>
        <p:spPr>
          <a:xfrm>
            <a:off x="6921300" y="4010000"/>
            <a:ext cx="4127391" cy="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cxnSp>
        <p:nvCxnSpPr>
          <p:cNvPr id="19" name="Bajada">
            <a:extLst>
              <a:ext uri="{FF2B5EF4-FFF2-40B4-BE49-F238E27FC236}">
                <a16:creationId xmlns:a16="http://schemas.microsoft.com/office/drawing/2014/main" id="{F239BDD0-A853-65E9-70DB-D01B76561789}"/>
              </a:ext>
            </a:extLst>
          </p:cNvPr>
          <p:cNvCxnSpPr/>
          <p:nvPr/>
        </p:nvCxnSpPr>
        <p:spPr>
          <a:xfrm>
            <a:off x="6921300" y="4010000"/>
            <a:ext cx="0" cy="25000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cxnSp>
        <p:nvCxnSpPr>
          <p:cNvPr id="20" name="Bajada">
            <a:extLst>
              <a:ext uri="{FF2B5EF4-FFF2-40B4-BE49-F238E27FC236}">
                <a16:creationId xmlns:a16="http://schemas.microsoft.com/office/drawing/2014/main" id="{C97060C6-B4C1-6394-88AD-D22A5BA85429}"/>
              </a:ext>
            </a:extLst>
          </p:cNvPr>
          <p:cNvCxnSpPr/>
          <p:nvPr/>
        </p:nvCxnSpPr>
        <p:spPr>
          <a:xfrm>
            <a:off x="8297097" y="4010000"/>
            <a:ext cx="0" cy="25000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cxnSp>
        <p:nvCxnSpPr>
          <p:cNvPr id="21" name="Bajada">
            <a:extLst>
              <a:ext uri="{FF2B5EF4-FFF2-40B4-BE49-F238E27FC236}">
                <a16:creationId xmlns:a16="http://schemas.microsoft.com/office/drawing/2014/main" id="{85659380-A778-6BB5-9DF2-2CB5EBA39D5B}"/>
              </a:ext>
            </a:extLst>
          </p:cNvPr>
          <p:cNvCxnSpPr/>
          <p:nvPr/>
        </p:nvCxnSpPr>
        <p:spPr>
          <a:xfrm>
            <a:off x="9672894" y="4010000"/>
            <a:ext cx="0" cy="25000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cxnSp>
        <p:nvCxnSpPr>
          <p:cNvPr id="22" name="Bajada">
            <a:extLst>
              <a:ext uri="{FF2B5EF4-FFF2-40B4-BE49-F238E27FC236}">
                <a16:creationId xmlns:a16="http://schemas.microsoft.com/office/drawing/2014/main" id="{EC671A9B-F1D2-54F0-6B31-F48E0C132906}"/>
              </a:ext>
            </a:extLst>
          </p:cNvPr>
          <p:cNvCxnSpPr/>
          <p:nvPr/>
        </p:nvCxnSpPr>
        <p:spPr>
          <a:xfrm>
            <a:off x="11048691" y="4010000"/>
            <a:ext cx="0" cy="250000"/>
          </a:xfrm>
          <a:prstGeom prst="line">
            <a:avLst/>
          </a:prstGeom>
          <a:ln w="19050">
            <a:solidFill>
              <a:srgbClr val="D9D5C9"/>
            </a:solidFill>
          </a:ln>
        </p:spPr>
      </p:cxnSp>
      <p:sp>
        <p:nvSpPr>
          <p:cNvPr id="23" name="Clase AcademicEmailAlert">
            <a:extLst>
              <a:ext uri="{FF2B5EF4-FFF2-40B4-BE49-F238E27FC236}">
                <a16:creationId xmlns:a16="http://schemas.microsoft.com/office/drawing/2014/main" id="{7ED034B2-34A2-7697-057F-9D26BF5F742F}"/>
              </a:ext>
            </a:extLst>
          </p:cNvPr>
          <p:cNvSpPr/>
          <p:nvPr/>
        </p:nvSpPr>
        <p:spPr>
          <a:xfrm>
            <a:off x="6273800" y="4260000"/>
            <a:ext cx="1295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4" name="Clase AcademicEmailAlert cabecera">
            <a:extLst>
              <a:ext uri="{FF2B5EF4-FFF2-40B4-BE49-F238E27FC236}">
                <a16:creationId xmlns:a16="http://schemas.microsoft.com/office/drawing/2014/main" id="{A06DDB10-F0A2-D19E-CDA9-A9E16CE78693}"/>
              </a:ext>
            </a:extLst>
          </p:cNvPr>
          <p:cNvSpPr/>
          <p:nvPr/>
        </p:nvSpPr>
        <p:spPr>
          <a:xfrm>
            <a:off x="6273800" y="4260000"/>
            <a:ext cx="1295000" cy="560000"/>
          </a:xfrm>
          <a:prstGeom prst="rect">
            <a:avLst/>
          </a:prstGeom>
          <a:solidFill>
            <a:srgbClr val="FFD97A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5" name="Clase AcademicEmailAlert nombre">
            <a:extLst>
              <a:ext uri="{FF2B5EF4-FFF2-40B4-BE49-F238E27FC236}">
                <a16:creationId xmlns:a16="http://schemas.microsoft.com/office/drawing/2014/main" id="{3127A380-CFB4-3D9F-7FEE-EA7DA9FD5970}"/>
              </a:ext>
            </a:extLst>
          </p:cNvPr>
          <p:cNvSpPr txBox="1"/>
          <p:nvPr/>
        </p:nvSpPr>
        <p:spPr>
          <a:xfrm>
            <a:off x="6273800" y="4260000"/>
            <a:ext cx="1295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Academic</a:t>
            </a:r>
          </a:p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EmailAlert</a:t>
            </a:r>
          </a:p>
        </p:txBody>
      </p:sp>
      <p:cxnSp>
        <p:nvCxnSpPr>
          <p:cNvPr id="26" name="Clase AcademicEmailAlert separador">
            <a:extLst>
              <a:ext uri="{FF2B5EF4-FFF2-40B4-BE49-F238E27FC236}">
                <a16:creationId xmlns:a16="http://schemas.microsoft.com/office/drawing/2014/main" id="{C0C7E419-1A04-62C0-7522-0081D502BF1C}"/>
              </a:ext>
            </a:extLst>
          </p:cNvPr>
          <p:cNvCxnSpPr/>
          <p:nvPr/>
        </p:nvCxnSpPr>
        <p:spPr>
          <a:xfrm>
            <a:off x="6273800" y="4820000"/>
            <a:ext cx="1295000" cy="0"/>
          </a:xfrm>
          <a:prstGeom prst="line">
            <a:avLst/>
          </a:prstGeom>
          <a:ln w="12700">
            <a:solidFill>
              <a:srgbClr val="C9A227"/>
            </a:solidFill>
          </a:ln>
        </p:spPr>
      </p:cxnSp>
      <p:sp>
        <p:nvSpPr>
          <p:cNvPr id="27" name="Clase AcademicEmailAlert métodos">
            <a:extLst>
              <a:ext uri="{FF2B5EF4-FFF2-40B4-BE49-F238E27FC236}">
                <a16:creationId xmlns:a16="http://schemas.microsoft.com/office/drawing/2014/main" id="{84C4C25A-48AF-3034-6046-65E05DD4AEA4}"/>
              </a:ext>
            </a:extLst>
          </p:cNvPr>
          <p:cNvSpPr txBox="1"/>
          <p:nvPr/>
        </p:nvSpPr>
        <p:spPr>
          <a:xfrm>
            <a:off x="6273800" y="4820000"/>
            <a:ext cx="1295000" cy="340000"/>
          </a:xfrm>
          <a:prstGeom prst="rect">
            <a:avLst/>
          </a:prstGeom>
          <a:noFill/>
          <a:ln/>
        </p:spPr>
        <p:txBody>
          <a:bodyPr wrap="square" lIns="7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+ send(message)</a:t>
            </a:r>
          </a:p>
        </p:txBody>
      </p:sp>
      <p:sp>
        <p:nvSpPr>
          <p:cNvPr id="28" name="Clase AcademicSMSAlert">
            <a:extLst>
              <a:ext uri="{FF2B5EF4-FFF2-40B4-BE49-F238E27FC236}">
                <a16:creationId xmlns:a16="http://schemas.microsoft.com/office/drawing/2014/main" id="{25E20F09-0C8F-BDB9-957A-AB1184DF5F5E}"/>
              </a:ext>
            </a:extLst>
          </p:cNvPr>
          <p:cNvSpPr/>
          <p:nvPr/>
        </p:nvSpPr>
        <p:spPr>
          <a:xfrm>
            <a:off x="7649597" y="4260000"/>
            <a:ext cx="1295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9" name="Clase AcademicSMSAlert cabecera">
            <a:extLst>
              <a:ext uri="{FF2B5EF4-FFF2-40B4-BE49-F238E27FC236}">
                <a16:creationId xmlns:a16="http://schemas.microsoft.com/office/drawing/2014/main" id="{9E0EC88A-E1A1-BFE9-8A32-CB1A81312787}"/>
              </a:ext>
            </a:extLst>
          </p:cNvPr>
          <p:cNvSpPr/>
          <p:nvPr/>
        </p:nvSpPr>
        <p:spPr>
          <a:xfrm>
            <a:off x="7649597" y="4260000"/>
            <a:ext cx="1295000" cy="560000"/>
          </a:xfrm>
          <a:prstGeom prst="rect">
            <a:avLst/>
          </a:prstGeom>
          <a:solidFill>
            <a:srgbClr val="FFD97A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0" name="Clase AcademicSMSAlert nombre">
            <a:extLst>
              <a:ext uri="{FF2B5EF4-FFF2-40B4-BE49-F238E27FC236}">
                <a16:creationId xmlns:a16="http://schemas.microsoft.com/office/drawing/2014/main" id="{F8176A8A-A47D-4219-3CE9-5E28ECF83E23}"/>
              </a:ext>
            </a:extLst>
          </p:cNvPr>
          <p:cNvSpPr txBox="1"/>
          <p:nvPr/>
        </p:nvSpPr>
        <p:spPr>
          <a:xfrm>
            <a:off x="7649597" y="4260000"/>
            <a:ext cx="1295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Academic</a:t>
            </a:r>
          </a:p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SMSAlert</a:t>
            </a:r>
          </a:p>
        </p:txBody>
      </p:sp>
      <p:cxnSp>
        <p:nvCxnSpPr>
          <p:cNvPr id="31" name="Clase AcademicSMSAlert separador">
            <a:extLst>
              <a:ext uri="{FF2B5EF4-FFF2-40B4-BE49-F238E27FC236}">
                <a16:creationId xmlns:a16="http://schemas.microsoft.com/office/drawing/2014/main" id="{CF8696C0-8750-3111-5CB8-5342D805CEFA}"/>
              </a:ext>
            </a:extLst>
          </p:cNvPr>
          <p:cNvCxnSpPr/>
          <p:nvPr/>
        </p:nvCxnSpPr>
        <p:spPr>
          <a:xfrm>
            <a:off x="7649597" y="4820000"/>
            <a:ext cx="1295000" cy="0"/>
          </a:xfrm>
          <a:prstGeom prst="line">
            <a:avLst/>
          </a:prstGeom>
          <a:ln w="12700">
            <a:solidFill>
              <a:srgbClr val="C9A227"/>
            </a:solidFill>
          </a:ln>
        </p:spPr>
      </p:cxnSp>
      <p:sp>
        <p:nvSpPr>
          <p:cNvPr id="32" name="Clase AcademicSMSAlert métodos">
            <a:extLst>
              <a:ext uri="{FF2B5EF4-FFF2-40B4-BE49-F238E27FC236}">
                <a16:creationId xmlns:a16="http://schemas.microsoft.com/office/drawing/2014/main" id="{0606E5BA-A822-6E28-DB30-B56AC671702A}"/>
              </a:ext>
            </a:extLst>
          </p:cNvPr>
          <p:cNvSpPr txBox="1"/>
          <p:nvPr/>
        </p:nvSpPr>
        <p:spPr>
          <a:xfrm>
            <a:off x="7649597" y="4820000"/>
            <a:ext cx="1295000" cy="340000"/>
          </a:xfrm>
          <a:prstGeom prst="rect">
            <a:avLst/>
          </a:prstGeom>
          <a:noFill/>
          <a:ln/>
        </p:spPr>
        <p:txBody>
          <a:bodyPr wrap="square" lIns="7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+ send(message)</a:t>
            </a:r>
          </a:p>
        </p:txBody>
      </p:sp>
      <p:sp>
        <p:nvSpPr>
          <p:cNvPr id="33" name="Clase UrgentEmailAlert">
            <a:extLst>
              <a:ext uri="{FF2B5EF4-FFF2-40B4-BE49-F238E27FC236}">
                <a16:creationId xmlns:a16="http://schemas.microsoft.com/office/drawing/2014/main" id="{233D55FC-E62A-EE19-6949-D7DC5DA76F45}"/>
              </a:ext>
            </a:extLst>
          </p:cNvPr>
          <p:cNvSpPr/>
          <p:nvPr/>
        </p:nvSpPr>
        <p:spPr>
          <a:xfrm>
            <a:off x="9025394" y="4260000"/>
            <a:ext cx="1295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8" name="Clase UrgentEmailAlert cabecera">
            <a:extLst>
              <a:ext uri="{FF2B5EF4-FFF2-40B4-BE49-F238E27FC236}">
                <a16:creationId xmlns:a16="http://schemas.microsoft.com/office/drawing/2014/main" id="{5A5D09EF-D5CC-48F7-A00E-2653AD70CEC9}"/>
              </a:ext>
            </a:extLst>
          </p:cNvPr>
          <p:cNvSpPr/>
          <p:nvPr/>
        </p:nvSpPr>
        <p:spPr>
          <a:xfrm>
            <a:off x="9025394" y="4260000"/>
            <a:ext cx="1295000" cy="560000"/>
          </a:xfrm>
          <a:prstGeom prst="rect">
            <a:avLst/>
          </a:prstGeom>
          <a:solidFill>
            <a:srgbClr val="FFD97A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9" name="Clase UrgentEmailAlert nombre">
            <a:extLst>
              <a:ext uri="{FF2B5EF4-FFF2-40B4-BE49-F238E27FC236}">
                <a16:creationId xmlns:a16="http://schemas.microsoft.com/office/drawing/2014/main" id="{A4B1FE8B-48B8-081D-80DD-4401ABB5DD07}"/>
              </a:ext>
            </a:extLst>
          </p:cNvPr>
          <p:cNvSpPr txBox="1"/>
          <p:nvPr/>
        </p:nvSpPr>
        <p:spPr>
          <a:xfrm>
            <a:off x="9025394" y="4260000"/>
            <a:ext cx="1295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Urgent</a:t>
            </a:r>
          </a:p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EmailAlert</a:t>
            </a:r>
          </a:p>
        </p:txBody>
      </p:sp>
      <p:cxnSp>
        <p:nvCxnSpPr>
          <p:cNvPr id="40" name="Clase UrgentEmailAlert separador">
            <a:extLst>
              <a:ext uri="{FF2B5EF4-FFF2-40B4-BE49-F238E27FC236}">
                <a16:creationId xmlns:a16="http://schemas.microsoft.com/office/drawing/2014/main" id="{97B823A5-032E-1C0E-C09B-2D2853654220}"/>
              </a:ext>
            </a:extLst>
          </p:cNvPr>
          <p:cNvCxnSpPr/>
          <p:nvPr/>
        </p:nvCxnSpPr>
        <p:spPr>
          <a:xfrm>
            <a:off x="9025394" y="4820000"/>
            <a:ext cx="1295000" cy="0"/>
          </a:xfrm>
          <a:prstGeom prst="line">
            <a:avLst/>
          </a:prstGeom>
          <a:ln w="12700">
            <a:solidFill>
              <a:srgbClr val="C9A227"/>
            </a:solidFill>
          </a:ln>
        </p:spPr>
      </p:cxnSp>
      <p:sp>
        <p:nvSpPr>
          <p:cNvPr id="42" name="Clase UrgentEmailAlert métodos">
            <a:extLst>
              <a:ext uri="{FF2B5EF4-FFF2-40B4-BE49-F238E27FC236}">
                <a16:creationId xmlns:a16="http://schemas.microsoft.com/office/drawing/2014/main" id="{37B8B4BE-6730-F4B2-90D1-6BE04D1C719E}"/>
              </a:ext>
            </a:extLst>
          </p:cNvPr>
          <p:cNvSpPr txBox="1"/>
          <p:nvPr/>
        </p:nvSpPr>
        <p:spPr>
          <a:xfrm>
            <a:off x="9025394" y="4820000"/>
            <a:ext cx="1295000" cy="340000"/>
          </a:xfrm>
          <a:prstGeom prst="rect">
            <a:avLst/>
          </a:prstGeom>
          <a:noFill/>
          <a:ln/>
        </p:spPr>
        <p:txBody>
          <a:bodyPr wrap="square" lIns="7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+ send(message)</a:t>
            </a:r>
          </a:p>
        </p:txBody>
      </p:sp>
      <p:sp>
        <p:nvSpPr>
          <p:cNvPr id="43" name="Clase UrgentSMSAlert">
            <a:extLst>
              <a:ext uri="{FF2B5EF4-FFF2-40B4-BE49-F238E27FC236}">
                <a16:creationId xmlns:a16="http://schemas.microsoft.com/office/drawing/2014/main" id="{0E6271F8-78E1-DD12-A931-A3707F4C69F1}"/>
              </a:ext>
            </a:extLst>
          </p:cNvPr>
          <p:cNvSpPr/>
          <p:nvPr/>
        </p:nvSpPr>
        <p:spPr>
          <a:xfrm>
            <a:off x="10401191" y="4260000"/>
            <a:ext cx="1295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4" name="Clase UrgentSMSAlert cabecera">
            <a:extLst>
              <a:ext uri="{FF2B5EF4-FFF2-40B4-BE49-F238E27FC236}">
                <a16:creationId xmlns:a16="http://schemas.microsoft.com/office/drawing/2014/main" id="{331A3D61-5FF5-B2C5-52BB-2D3C95F7D54E}"/>
              </a:ext>
            </a:extLst>
          </p:cNvPr>
          <p:cNvSpPr/>
          <p:nvPr/>
        </p:nvSpPr>
        <p:spPr>
          <a:xfrm>
            <a:off x="10401191" y="4260000"/>
            <a:ext cx="1295000" cy="560000"/>
          </a:xfrm>
          <a:prstGeom prst="rect">
            <a:avLst/>
          </a:prstGeom>
          <a:solidFill>
            <a:srgbClr val="FFD97A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5" name="Clase UrgentSMSAlert nombre">
            <a:extLst>
              <a:ext uri="{FF2B5EF4-FFF2-40B4-BE49-F238E27FC236}">
                <a16:creationId xmlns:a16="http://schemas.microsoft.com/office/drawing/2014/main" id="{6A3C0171-1788-EB4F-1DF6-E2E81E6BA92B}"/>
              </a:ext>
            </a:extLst>
          </p:cNvPr>
          <p:cNvSpPr txBox="1"/>
          <p:nvPr/>
        </p:nvSpPr>
        <p:spPr>
          <a:xfrm>
            <a:off x="10401191" y="4260000"/>
            <a:ext cx="1295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Urgent</a:t>
            </a:r>
          </a:p>
          <a:p>
            <a:pPr marL="0" indent="0" algn="ctr">
              <a:lnSpc>
                <a:spcPts val="1625"/>
              </a:lnSpc>
              <a:buNone/>
            </a:pPr>
            <a:r>
              <a:rPr lang="es-CO" sz="1300" b="1" dirty="0">
                <a:solidFill>
                  <a:srgbClr val="1F1F1F"/>
                </a:solidFill>
                <a:latin typeface="Arial" pitchFamily="34" charset="0"/>
                <a:ea typeface="Arial" charset="-122"/>
                <a:cs typeface="Arial" charset="-120"/>
              </a:rPr>
              <a:t>SMSAlert</a:t>
            </a:r>
          </a:p>
        </p:txBody>
      </p:sp>
      <p:cxnSp>
        <p:nvCxnSpPr>
          <p:cNvPr id="47" name="Clase UrgentSMSAlert separador">
            <a:extLst>
              <a:ext uri="{FF2B5EF4-FFF2-40B4-BE49-F238E27FC236}">
                <a16:creationId xmlns:a16="http://schemas.microsoft.com/office/drawing/2014/main" id="{380739FD-2F71-9BE6-18C1-09730172B82B}"/>
              </a:ext>
            </a:extLst>
          </p:cNvPr>
          <p:cNvCxnSpPr/>
          <p:nvPr/>
        </p:nvCxnSpPr>
        <p:spPr>
          <a:xfrm>
            <a:off x="10401191" y="4820000"/>
            <a:ext cx="1295000" cy="0"/>
          </a:xfrm>
          <a:prstGeom prst="line">
            <a:avLst/>
          </a:prstGeom>
          <a:ln w="12700">
            <a:solidFill>
              <a:srgbClr val="C9A227"/>
            </a:solidFill>
          </a:ln>
        </p:spPr>
      </p:cxnSp>
      <p:sp>
        <p:nvSpPr>
          <p:cNvPr id="49" name="Clase UrgentSMSAlert métodos">
            <a:extLst>
              <a:ext uri="{FF2B5EF4-FFF2-40B4-BE49-F238E27FC236}">
                <a16:creationId xmlns:a16="http://schemas.microsoft.com/office/drawing/2014/main" id="{D0DE4111-6820-4361-7264-9876E1D7239F}"/>
              </a:ext>
            </a:extLst>
          </p:cNvPr>
          <p:cNvSpPr txBox="1"/>
          <p:nvPr/>
        </p:nvSpPr>
        <p:spPr>
          <a:xfrm>
            <a:off x="10401191" y="4820000"/>
            <a:ext cx="1295000" cy="340000"/>
          </a:xfrm>
          <a:prstGeom prst="rect">
            <a:avLst/>
          </a:prstGeom>
          <a:noFill/>
          <a:ln/>
        </p:spPr>
        <p:txBody>
          <a:bodyPr wrap="square" lIns="7000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s-CO" sz="1200" dirty="0">
                <a:solidFill>
                  <a:srgbClr val="2B2B2B"/>
                </a:solidFill>
                <a:latin typeface="Arial" pitchFamily="34" charset="0"/>
                <a:ea typeface="Arial" charset="-122"/>
                <a:cs typeface="Arial" charset="-120"/>
              </a:rPr>
              <a:t>+ send(message)</a:t>
            </a:r>
          </a:p>
        </p:txBody>
      </p:sp>
    </p:spTree>
    <p:extLst>
      <p:ext uri="{BB962C8B-B14F-4D97-AF65-F5344CB8AC3E}">
        <p14:creationId xmlns:p14="http://schemas.microsoft.com/office/powerpoint/2010/main" val="183422127"/>
      </p:ext>
    </p:extLst>
  </p:cSld>
  <p:clrMapOvr>
    <a:masterClrMapping/>
  </p:clrMapOvr>
</p:sld>
</file>

<file path=ppt/theme/theme1.xml><?xml version="1.0" encoding="utf-8"?>
<a:theme xmlns:a="http://schemas.openxmlformats.org/drawingml/2006/main" name="Patrón de diseño Bridge">
  <a:themeElements>
    <a:clrScheme name="Patrón de diseño Bridge">
      <a:dk1>
        <a:srgbClr val="151C2E"/>
      </a:dk1>
      <a:lt1>
        <a:srgbClr val="F4F1EA"/>
      </a:lt1>
      <a:dk2>
        <a:srgbClr val="2B3141"/>
      </a:dk2>
      <a:lt2>
        <a:srgbClr val="BCBCBB"/>
      </a:lt2>
      <a:accent1>
        <a:srgbClr val="F2B441"/>
      </a:accent1>
      <a:accent2>
        <a:srgbClr val="3FD0C0"/>
      </a:accent2>
      <a:accent3>
        <a:srgbClr val="A86A00"/>
      </a:accent3>
      <a:accent4>
        <a:srgbClr val="0F766E"/>
      </a:accent4>
      <a:accent5>
        <a:srgbClr val="FF8A7A"/>
      </a:accent5>
      <a:accent6>
        <a:srgbClr val="D9D5C9"/>
      </a:accent6>
      <a:hlink>
        <a:srgbClr val="0563C1"/>
      </a:hlink>
      <a:folHlink>
        <a:srgbClr val="954F72"/>
      </a:folHlink>
    </a:clrScheme>
    <a:fontScheme name="Patrón de diseño Bridg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1116</Words>
  <Application>Microsoft Office PowerPoint</Application>
  <PresentationFormat>Panorámica</PresentationFormat>
  <Paragraphs>194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Unicode MS</vt:lpstr>
      <vt:lpstr>Georgia</vt:lpstr>
      <vt:lpstr>Patrón de diseño Bridge</vt:lpstr>
      <vt:lpstr>Presentación de PowerPoint</vt:lpstr>
      <vt:lpstr>¿Qué es el patrón Bridge?</vt:lpstr>
      <vt:lpstr>Propósito y motivación</vt:lpstr>
      <vt:lpstr>La solución: composición</vt:lpstr>
      <vt:lpstr>¿Cómo funciona?</vt:lpstr>
      <vt:lpstr>Aplicabilidad: casos de uso</vt:lpstr>
      <vt:lpstr>Pros y contras</vt:lpstr>
      <vt:lpstr>Ejemplo: exportación de reportes</vt:lpstr>
      <vt:lpstr>Despúes de bridge:</vt:lpstr>
      <vt:lpstr>Ejercicio: Sistema de alertas universitarias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Patrón de diseño Bridge</dc:title>
  <dc:subject/>
  <dc:creator>hernan andres gutierrez anillo</dc:creator>
  <cp:lastModifiedBy>hernan andres gutierrez anillo</cp:lastModifiedBy>
  <cp:revision>10</cp:revision>
  <dcterms:created xsi:type="dcterms:W3CDTF">2026-10-13T20:43:51Z</dcterms:created>
  <dcterms:modified xsi:type="dcterms:W3CDTF">2026-10-15T19:52:27Z</dcterms:modified>
</cp:coreProperties>
</file>